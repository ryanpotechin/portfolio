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86" r:id="rId2"/>
    <p:sldId id="28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4660"/>
  </p:normalViewPr>
  <p:slideViewPr>
    <p:cSldViewPr snapToGrid="0">
      <p:cViewPr varScale="1">
        <p:scale>
          <a:sx n="95" d="100"/>
          <a:sy n="95" d="100"/>
        </p:scale>
        <p:origin x="163"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0305A8-03B5-4422-841C-657F6FE478B8}" type="datetimeFigureOut">
              <a:rPr lang="en-US" smtClean="0"/>
              <a:t>12/1/2024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D3FEB7-EEAA-4A80-83EF-5DF6E8081B21}" type="slidenum">
              <a:rPr lang="en-US" smtClean="0"/>
              <a:t>‹#›</a:t>
            </a:fld>
            <a:endParaRPr lang="en-US"/>
          </a:p>
        </p:txBody>
      </p:sp>
    </p:spTree>
    <p:extLst>
      <p:ext uri="{BB962C8B-B14F-4D97-AF65-F5344CB8AC3E}">
        <p14:creationId xmlns:p14="http://schemas.microsoft.com/office/powerpoint/2010/main" val="3039216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f04fb39db_6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f04fb39db_6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46549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6BABA-A747-329E-0E46-8CA09527D7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184AB0-A87F-971C-BFAA-BE33E212DD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58F1EC-CA24-075A-04A8-37AEEACA2364}"/>
              </a:ext>
            </a:extLst>
          </p:cNvPr>
          <p:cNvSpPr>
            <a:spLocks noGrp="1"/>
          </p:cNvSpPr>
          <p:nvPr>
            <p:ph type="dt" sz="half" idx="10"/>
          </p:nvPr>
        </p:nvSpPr>
        <p:spPr/>
        <p:txBody>
          <a:bodyPr/>
          <a:lstStyle/>
          <a:p>
            <a:fld id="{5EFA8E85-40C7-45C6-90AA-A18307FA08E5}" type="datetimeFigureOut">
              <a:rPr lang="en-US" smtClean="0"/>
              <a:t>12/1/2024</a:t>
            </a:fld>
            <a:endParaRPr lang="en-US"/>
          </a:p>
        </p:txBody>
      </p:sp>
      <p:sp>
        <p:nvSpPr>
          <p:cNvPr id="5" name="Footer Placeholder 4">
            <a:extLst>
              <a:ext uri="{FF2B5EF4-FFF2-40B4-BE49-F238E27FC236}">
                <a16:creationId xmlns:a16="http://schemas.microsoft.com/office/drawing/2014/main" id="{23E91287-40F0-9215-3C76-76D4C1A6B5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C40BED-A677-B75F-C589-BB4805CA484E}"/>
              </a:ext>
            </a:extLst>
          </p:cNvPr>
          <p:cNvSpPr>
            <a:spLocks noGrp="1"/>
          </p:cNvSpPr>
          <p:nvPr>
            <p:ph type="sldNum" sz="quarter" idx="12"/>
          </p:nvPr>
        </p:nvSpPr>
        <p:spPr/>
        <p:txBody>
          <a:bodyPr/>
          <a:lstStyle/>
          <a:p>
            <a:fld id="{8071B7F1-6E25-4DDA-872A-968735EEE9FE}" type="slidenum">
              <a:rPr lang="en-US" smtClean="0"/>
              <a:t>‹#›</a:t>
            </a:fld>
            <a:endParaRPr lang="en-US"/>
          </a:p>
        </p:txBody>
      </p:sp>
    </p:spTree>
    <p:extLst>
      <p:ext uri="{BB962C8B-B14F-4D97-AF65-F5344CB8AC3E}">
        <p14:creationId xmlns:p14="http://schemas.microsoft.com/office/powerpoint/2010/main" val="2585278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E4B35-523B-6131-7C77-4BE2EA670B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2374CD-E89E-073F-481F-15E62E6648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1AEC70-778B-0883-2A60-1D51DA3D5A13}"/>
              </a:ext>
            </a:extLst>
          </p:cNvPr>
          <p:cNvSpPr>
            <a:spLocks noGrp="1"/>
          </p:cNvSpPr>
          <p:nvPr>
            <p:ph type="dt" sz="half" idx="10"/>
          </p:nvPr>
        </p:nvSpPr>
        <p:spPr/>
        <p:txBody>
          <a:bodyPr/>
          <a:lstStyle/>
          <a:p>
            <a:fld id="{5EFA8E85-40C7-45C6-90AA-A18307FA08E5}" type="datetimeFigureOut">
              <a:rPr lang="en-US" smtClean="0"/>
              <a:t>12/1/2024</a:t>
            </a:fld>
            <a:endParaRPr lang="en-US"/>
          </a:p>
        </p:txBody>
      </p:sp>
      <p:sp>
        <p:nvSpPr>
          <p:cNvPr id="5" name="Footer Placeholder 4">
            <a:extLst>
              <a:ext uri="{FF2B5EF4-FFF2-40B4-BE49-F238E27FC236}">
                <a16:creationId xmlns:a16="http://schemas.microsoft.com/office/drawing/2014/main" id="{49F9BBD1-D75B-5AA1-4712-932B7A224A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C5EFCD-D555-05A6-1A6B-E97D7E444016}"/>
              </a:ext>
            </a:extLst>
          </p:cNvPr>
          <p:cNvSpPr>
            <a:spLocks noGrp="1"/>
          </p:cNvSpPr>
          <p:nvPr>
            <p:ph type="sldNum" sz="quarter" idx="12"/>
          </p:nvPr>
        </p:nvSpPr>
        <p:spPr/>
        <p:txBody>
          <a:bodyPr/>
          <a:lstStyle/>
          <a:p>
            <a:fld id="{8071B7F1-6E25-4DDA-872A-968735EEE9FE}" type="slidenum">
              <a:rPr lang="en-US" smtClean="0"/>
              <a:t>‹#›</a:t>
            </a:fld>
            <a:endParaRPr lang="en-US"/>
          </a:p>
        </p:txBody>
      </p:sp>
    </p:spTree>
    <p:extLst>
      <p:ext uri="{BB962C8B-B14F-4D97-AF65-F5344CB8AC3E}">
        <p14:creationId xmlns:p14="http://schemas.microsoft.com/office/powerpoint/2010/main" val="3286272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35327-DD06-D813-7D7E-144EE623BD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00F845-3553-A92A-8028-7E930B29C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E13797-0081-EBBB-15F7-06593BC50A12}"/>
              </a:ext>
            </a:extLst>
          </p:cNvPr>
          <p:cNvSpPr>
            <a:spLocks noGrp="1"/>
          </p:cNvSpPr>
          <p:nvPr>
            <p:ph type="dt" sz="half" idx="10"/>
          </p:nvPr>
        </p:nvSpPr>
        <p:spPr/>
        <p:txBody>
          <a:bodyPr/>
          <a:lstStyle/>
          <a:p>
            <a:fld id="{5EFA8E85-40C7-45C6-90AA-A18307FA08E5}" type="datetimeFigureOut">
              <a:rPr lang="en-US" smtClean="0"/>
              <a:t>12/1/2024</a:t>
            </a:fld>
            <a:endParaRPr lang="en-US"/>
          </a:p>
        </p:txBody>
      </p:sp>
      <p:sp>
        <p:nvSpPr>
          <p:cNvPr id="5" name="Footer Placeholder 4">
            <a:extLst>
              <a:ext uri="{FF2B5EF4-FFF2-40B4-BE49-F238E27FC236}">
                <a16:creationId xmlns:a16="http://schemas.microsoft.com/office/drawing/2014/main" id="{75F5A4C0-3BD2-2C52-F520-820D485205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CF2800-64AA-7142-4E9B-82590EB557D1}"/>
              </a:ext>
            </a:extLst>
          </p:cNvPr>
          <p:cNvSpPr>
            <a:spLocks noGrp="1"/>
          </p:cNvSpPr>
          <p:nvPr>
            <p:ph type="sldNum" sz="quarter" idx="12"/>
          </p:nvPr>
        </p:nvSpPr>
        <p:spPr/>
        <p:txBody>
          <a:bodyPr/>
          <a:lstStyle/>
          <a:p>
            <a:fld id="{8071B7F1-6E25-4DDA-872A-968735EEE9FE}" type="slidenum">
              <a:rPr lang="en-US" smtClean="0"/>
              <a:t>‹#›</a:t>
            </a:fld>
            <a:endParaRPr lang="en-US"/>
          </a:p>
        </p:txBody>
      </p:sp>
    </p:spTree>
    <p:extLst>
      <p:ext uri="{BB962C8B-B14F-4D97-AF65-F5344CB8AC3E}">
        <p14:creationId xmlns:p14="http://schemas.microsoft.com/office/powerpoint/2010/main" val="1006000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50507-39B4-EA4E-052C-F47FC7C957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E5821D-4DD8-8D09-303E-B9551A23FF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6300F0-56D7-D9B5-CE47-64C7DC9E0D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1833F9-4FF9-BCDF-DF56-DDB5EB983817}"/>
              </a:ext>
            </a:extLst>
          </p:cNvPr>
          <p:cNvSpPr>
            <a:spLocks noGrp="1"/>
          </p:cNvSpPr>
          <p:nvPr>
            <p:ph type="dt" sz="half" idx="10"/>
          </p:nvPr>
        </p:nvSpPr>
        <p:spPr/>
        <p:txBody>
          <a:bodyPr/>
          <a:lstStyle/>
          <a:p>
            <a:fld id="{5EFA8E85-40C7-45C6-90AA-A18307FA08E5}" type="datetimeFigureOut">
              <a:rPr lang="en-US" smtClean="0"/>
              <a:t>12/1/2024</a:t>
            </a:fld>
            <a:endParaRPr lang="en-US"/>
          </a:p>
        </p:txBody>
      </p:sp>
      <p:sp>
        <p:nvSpPr>
          <p:cNvPr id="6" name="Footer Placeholder 5">
            <a:extLst>
              <a:ext uri="{FF2B5EF4-FFF2-40B4-BE49-F238E27FC236}">
                <a16:creationId xmlns:a16="http://schemas.microsoft.com/office/drawing/2014/main" id="{7A9A2996-DE09-20CE-F0E0-9A0E258D4A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02D7A5-AFC5-653E-4995-0DD004DD6A00}"/>
              </a:ext>
            </a:extLst>
          </p:cNvPr>
          <p:cNvSpPr>
            <a:spLocks noGrp="1"/>
          </p:cNvSpPr>
          <p:nvPr>
            <p:ph type="sldNum" sz="quarter" idx="12"/>
          </p:nvPr>
        </p:nvSpPr>
        <p:spPr/>
        <p:txBody>
          <a:bodyPr/>
          <a:lstStyle/>
          <a:p>
            <a:fld id="{8071B7F1-6E25-4DDA-872A-968735EEE9FE}" type="slidenum">
              <a:rPr lang="en-US" smtClean="0"/>
              <a:t>‹#›</a:t>
            </a:fld>
            <a:endParaRPr lang="en-US"/>
          </a:p>
        </p:txBody>
      </p:sp>
    </p:spTree>
    <p:extLst>
      <p:ext uri="{BB962C8B-B14F-4D97-AF65-F5344CB8AC3E}">
        <p14:creationId xmlns:p14="http://schemas.microsoft.com/office/powerpoint/2010/main" val="1466008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5CB77-32A7-68DD-FB1F-E545145B08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876582-9905-088A-6903-FD9D5FECD6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22811B-65B8-7B54-ECF3-7767B9650E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C39A29-5967-DB43-7AAF-BC12CA05D8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7BB978-C37E-6EBD-16F1-C8C607074C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29A73F-B928-3418-3909-513671DAFAC2}"/>
              </a:ext>
            </a:extLst>
          </p:cNvPr>
          <p:cNvSpPr>
            <a:spLocks noGrp="1"/>
          </p:cNvSpPr>
          <p:nvPr>
            <p:ph type="dt" sz="half" idx="10"/>
          </p:nvPr>
        </p:nvSpPr>
        <p:spPr/>
        <p:txBody>
          <a:bodyPr/>
          <a:lstStyle/>
          <a:p>
            <a:fld id="{5EFA8E85-40C7-45C6-90AA-A18307FA08E5}" type="datetimeFigureOut">
              <a:rPr lang="en-US" smtClean="0"/>
              <a:t>12/1/2024</a:t>
            </a:fld>
            <a:endParaRPr lang="en-US"/>
          </a:p>
        </p:txBody>
      </p:sp>
      <p:sp>
        <p:nvSpPr>
          <p:cNvPr id="8" name="Footer Placeholder 7">
            <a:extLst>
              <a:ext uri="{FF2B5EF4-FFF2-40B4-BE49-F238E27FC236}">
                <a16:creationId xmlns:a16="http://schemas.microsoft.com/office/drawing/2014/main" id="{19A1804E-21A9-7591-6679-ED26C01539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3E4771-EDD4-F0FA-6017-43114137EEBF}"/>
              </a:ext>
            </a:extLst>
          </p:cNvPr>
          <p:cNvSpPr>
            <a:spLocks noGrp="1"/>
          </p:cNvSpPr>
          <p:nvPr>
            <p:ph type="sldNum" sz="quarter" idx="12"/>
          </p:nvPr>
        </p:nvSpPr>
        <p:spPr/>
        <p:txBody>
          <a:bodyPr/>
          <a:lstStyle/>
          <a:p>
            <a:fld id="{8071B7F1-6E25-4DDA-872A-968735EEE9FE}" type="slidenum">
              <a:rPr lang="en-US" smtClean="0"/>
              <a:t>‹#›</a:t>
            </a:fld>
            <a:endParaRPr lang="en-US"/>
          </a:p>
        </p:txBody>
      </p:sp>
    </p:spTree>
    <p:extLst>
      <p:ext uri="{BB962C8B-B14F-4D97-AF65-F5344CB8AC3E}">
        <p14:creationId xmlns:p14="http://schemas.microsoft.com/office/powerpoint/2010/main" val="3640366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6F694-0F9E-BD44-0E61-7087E7C774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42ABA37-BC4D-A5DE-CFF5-C4E51AB7463C}"/>
              </a:ext>
            </a:extLst>
          </p:cNvPr>
          <p:cNvSpPr>
            <a:spLocks noGrp="1"/>
          </p:cNvSpPr>
          <p:nvPr>
            <p:ph type="dt" sz="half" idx="10"/>
          </p:nvPr>
        </p:nvSpPr>
        <p:spPr/>
        <p:txBody>
          <a:bodyPr/>
          <a:lstStyle/>
          <a:p>
            <a:fld id="{5EFA8E85-40C7-45C6-90AA-A18307FA08E5}" type="datetimeFigureOut">
              <a:rPr lang="en-US" smtClean="0"/>
              <a:t>12/1/2024</a:t>
            </a:fld>
            <a:endParaRPr lang="en-US"/>
          </a:p>
        </p:txBody>
      </p:sp>
      <p:sp>
        <p:nvSpPr>
          <p:cNvPr id="4" name="Footer Placeholder 3">
            <a:extLst>
              <a:ext uri="{FF2B5EF4-FFF2-40B4-BE49-F238E27FC236}">
                <a16:creationId xmlns:a16="http://schemas.microsoft.com/office/drawing/2014/main" id="{C285F761-2F94-8618-762F-ABC8AA6F6C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1CB9CE-B4D0-F89A-9999-6C6652ACEF05}"/>
              </a:ext>
            </a:extLst>
          </p:cNvPr>
          <p:cNvSpPr>
            <a:spLocks noGrp="1"/>
          </p:cNvSpPr>
          <p:nvPr>
            <p:ph type="sldNum" sz="quarter" idx="12"/>
          </p:nvPr>
        </p:nvSpPr>
        <p:spPr/>
        <p:txBody>
          <a:bodyPr/>
          <a:lstStyle/>
          <a:p>
            <a:fld id="{8071B7F1-6E25-4DDA-872A-968735EEE9FE}" type="slidenum">
              <a:rPr lang="en-US" smtClean="0"/>
              <a:t>‹#›</a:t>
            </a:fld>
            <a:endParaRPr lang="en-US"/>
          </a:p>
        </p:txBody>
      </p:sp>
    </p:spTree>
    <p:extLst>
      <p:ext uri="{BB962C8B-B14F-4D97-AF65-F5344CB8AC3E}">
        <p14:creationId xmlns:p14="http://schemas.microsoft.com/office/powerpoint/2010/main" val="1461708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14445D-FCA6-E59E-E056-0AE2F3823CB5}"/>
              </a:ext>
            </a:extLst>
          </p:cNvPr>
          <p:cNvSpPr>
            <a:spLocks noGrp="1"/>
          </p:cNvSpPr>
          <p:nvPr>
            <p:ph type="dt" sz="half" idx="10"/>
          </p:nvPr>
        </p:nvSpPr>
        <p:spPr/>
        <p:txBody>
          <a:bodyPr/>
          <a:lstStyle/>
          <a:p>
            <a:fld id="{5EFA8E85-40C7-45C6-90AA-A18307FA08E5}" type="datetimeFigureOut">
              <a:rPr lang="en-US" smtClean="0"/>
              <a:t>12/1/2024</a:t>
            </a:fld>
            <a:endParaRPr lang="en-US"/>
          </a:p>
        </p:txBody>
      </p:sp>
      <p:sp>
        <p:nvSpPr>
          <p:cNvPr id="3" name="Footer Placeholder 2">
            <a:extLst>
              <a:ext uri="{FF2B5EF4-FFF2-40B4-BE49-F238E27FC236}">
                <a16:creationId xmlns:a16="http://schemas.microsoft.com/office/drawing/2014/main" id="{B86D9DED-4D22-F5D4-1B99-1774E6893D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352673-B72A-8148-7B44-191EE226C718}"/>
              </a:ext>
            </a:extLst>
          </p:cNvPr>
          <p:cNvSpPr>
            <a:spLocks noGrp="1"/>
          </p:cNvSpPr>
          <p:nvPr>
            <p:ph type="sldNum" sz="quarter" idx="12"/>
          </p:nvPr>
        </p:nvSpPr>
        <p:spPr/>
        <p:txBody>
          <a:bodyPr/>
          <a:lstStyle/>
          <a:p>
            <a:fld id="{8071B7F1-6E25-4DDA-872A-968735EEE9FE}" type="slidenum">
              <a:rPr lang="en-US" smtClean="0"/>
              <a:t>‹#›</a:t>
            </a:fld>
            <a:endParaRPr lang="en-US"/>
          </a:p>
        </p:txBody>
      </p:sp>
    </p:spTree>
    <p:extLst>
      <p:ext uri="{BB962C8B-B14F-4D97-AF65-F5344CB8AC3E}">
        <p14:creationId xmlns:p14="http://schemas.microsoft.com/office/powerpoint/2010/main" val="3960412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3EC9D-B7EF-5D8F-EF34-128726C5CA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E100BF-3C7B-95DD-3A5A-BCF3FF2893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61E56C-69E1-CBA6-4015-CF72A89EB6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084EEF-32C0-BF4B-312F-E95D8F11DFC0}"/>
              </a:ext>
            </a:extLst>
          </p:cNvPr>
          <p:cNvSpPr>
            <a:spLocks noGrp="1"/>
          </p:cNvSpPr>
          <p:nvPr>
            <p:ph type="dt" sz="half" idx="10"/>
          </p:nvPr>
        </p:nvSpPr>
        <p:spPr/>
        <p:txBody>
          <a:bodyPr/>
          <a:lstStyle/>
          <a:p>
            <a:fld id="{5EFA8E85-40C7-45C6-90AA-A18307FA08E5}" type="datetimeFigureOut">
              <a:rPr lang="en-US" smtClean="0"/>
              <a:t>12/1/2024</a:t>
            </a:fld>
            <a:endParaRPr lang="en-US"/>
          </a:p>
        </p:txBody>
      </p:sp>
      <p:sp>
        <p:nvSpPr>
          <p:cNvPr id="6" name="Footer Placeholder 5">
            <a:extLst>
              <a:ext uri="{FF2B5EF4-FFF2-40B4-BE49-F238E27FC236}">
                <a16:creationId xmlns:a16="http://schemas.microsoft.com/office/drawing/2014/main" id="{7AB18986-C81C-3EEB-084D-2D2B40DF60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005B97-68B5-A3B8-DC76-808968A69DD8}"/>
              </a:ext>
            </a:extLst>
          </p:cNvPr>
          <p:cNvSpPr>
            <a:spLocks noGrp="1"/>
          </p:cNvSpPr>
          <p:nvPr>
            <p:ph type="sldNum" sz="quarter" idx="12"/>
          </p:nvPr>
        </p:nvSpPr>
        <p:spPr/>
        <p:txBody>
          <a:bodyPr/>
          <a:lstStyle/>
          <a:p>
            <a:fld id="{8071B7F1-6E25-4DDA-872A-968735EEE9FE}" type="slidenum">
              <a:rPr lang="en-US" smtClean="0"/>
              <a:t>‹#›</a:t>
            </a:fld>
            <a:endParaRPr lang="en-US"/>
          </a:p>
        </p:txBody>
      </p:sp>
    </p:spTree>
    <p:extLst>
      <p:ext uri="{BB962C8B-B14F-4D97-AF65-F5344CB8AC3E}">
        <p14:creationId xmlns:p14="http://schemas.microsoft.com/office/powerpoint/2010/main" val="31487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E5C79-8D99-B27B-EE3E-CABF647DBF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6232DC-6479-B80C-BB4D-410502EE5F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94F230-DD67-43EF-6E50-9FB1489D93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B8262D-0068-2F10-CD00-A83C4F935CDC}"/>
              </a:ext>
            </a:extLst>
          </p:cNvPr>
          <p:cNvSpPr>
            <a:spLocks noGrp="1"/>
          </p:cNvSpPr>
          <p:nvPr>
            <p:ph type="dt" sz="half" idx="10"/>
          </p:nvPr>
        </p:nvSpPr>
        <p:spPr/>
        <p:txBody>
          <a:bodyPr/>
          <a:lstStyle/>
          <a:p>
            <a:fld id="{5EFA8E85-40C7-45C6-90AA-A18307FA08E5}" type="datetimeFigureOut">
              <a:rPr lang="en-US" smtClean="0"/>
              <a:t>12/1/2024</a:t>
            </a:fld>
            <a:endParaRPr lang="en-US"/>
          </a:p>
        </p:txBody>
      </p:sp>
      <p:sp>
        <p:nvSpPr>
          <p:cNvPr id="6" name="Footer Placeholder 5">
            <a:extLst>
              <a:ext uri="{FF2B5EF4-FFF2-40B4-BE49-F238E27FC236}">
                <a16:creationId xmlns:a16="http://schemas.microsoft.com/office/drawing/2014/main" id="{1BC97512-677C-A3C9-C3C3-0FE9B0CA71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707BDD-8DFA-CFFF-F175-4A7BE488F7FD}"/>
              </a:ext>
            </a:extLst>
          </p:cNvPr>
          <p:cNvSpPr>
            <a:spLocks noGrp="1"/>
          </p:cNvSpPr>
          <p:nvPr>
            <p:ph type="sldNum" sz="quarter" idx="12"/>
          </p:nvPr>
        </p:nvSpPr>
        <p:spPr/>
        <p:txBody>
          <a:bodyPr/>
          <a:lstStyle/>
          <a:p>
            <a:fld id="{8071B7F1-6E25-4DDA-872A-968735EEE9FE}" type="slidenum">
              <a:rPr lang="en-US" smtClean="0"/>
              <a:t>‹#›</a:t>
            </a:fld>
            <a:endParaRPr lang="en-US"/>
          </a:p>
        </p:txBody>
      </p:sp>
    </p:spTree>
    <p:extLst>
      <p:ext uri="{BB962C8B-B14F-4D97-AF65-F5344CB8AC3E}">
        <p14:creationId xmlns:p14="http://schemas.microsoft.com/office/powerpoint/2010/main" val="1502869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AF64F-C247-DECC-8D19-7A4E1B5C1E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30A4E7-A7A5-1892-9282-27D389C37F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227B6D-2467-44B2-C889-E2071895BBF6}"/>
              </a:ext>
            </a:extLst>
          </p:cNvPr>
          <p:cNvSpPr>
            <a:spLocks noGrp="1"/>
          </p:cNvSpPr>
          <p:nvPr>
            <p:ph type="dt" sz="half" idx="10"/>
          </p:nvPr>
        </p:nvSpPr>
        <p:spPr/>
        <p:txBody>
          <a:bodyPr/>
          <a:lstStyle/>
          <a:p>
            <a:fld id="{5EFA8E85-40C7-45C6-90AA-A18307FA08E5}" type="datetimeFigureOut">
              <a:rPr lang="en-US" smtClean="0"/>
              <a:t>12/1/2024</a:t>
            </a:fld>
            <a:endParaRPr lang="en-US"/>
          </a:p>
        </p:txBody>
      </p:sp>
      <p:sp>
        <p:nvSpPr>
          <p:cNvPr id="5" name="Footer Placeholder 4">
            <a:extLst>
              <a:ext uri="{FF2B5EF4-FFF2-40B4-BE49-F238E27FC236}">
                <a16:creationId xmlns:a16="http://schemas.microsoft.com/office/drawing/2014/main" id="{65278289-931F-CED0-72C3-04A6946910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16AF4C-CFF9-2166-9C24-71105AA90577}"/>
              </a:ext>
            </a:extLst>
          </p:cNvPr>
          <p:cNvSpPr>
            <a:spLocks noGrp="1"/>
          </p:cNvSpPr>
          <p:nvPr>
            <p:ph type="sldNum" sz="quarter" idx="12"/>
          </p:nvPr>
        </p:nvSpPr>
        <p:spPr/>
        <p:txBody>
          <a:bodyPr/>
          <a:lstStyle/>
          <a:p>
            <a:fld id="{8071B7F1-6E25-4DDA-872A-968735EEE9FE}" type="slidenum">
              <a:rPr lang="en-US" smtClean="0"/>
              <a:t>‹#›</a:t>
            </a:fld>
            <a:endParaRPr lang="en-US"/>
          </a:p>
        </p:txBody>
      </p:sp>
    </p:spTree>
    <p:extLst>
      <p:ext uri="{BB962C8B-B14F-4D97-AF65-F5344CB8AC3E}">
        <p14:creationId xmlns:p14="http://schemas.microsoft.com/office/powerpoint/2010/main" val="1769750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AAEC83-F97A-D8F8-E4A4-C445E517D51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6E4EAE5-7B1F-2B05-A1C6-A40F805B88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8330C0-D239-A7C4-5400-0C811E93D890}"/>
              </a:ext>
            </a:extLst>
          </p:cNvPr>
          <p:cNvSpPr>
            <a:spLocks noGrp="1"/>
          </p:cNvSpPr>
          <p:nvPr>
            <p:ph type="dt" sz="half" idx="10"/>
          </p:nvPr>
        </p:nvSpPr>
        <p:spPr/>
        <p:txBody>
          <a:bodyPr/>
          <a:lstStyle/>
          <a:p>
            <a:fld id="{5EFA8E85-40C7-45C6-90AA-A18307FA08E5}" type="datetimeFigureOut">
              <a:rPr lang="en-US" smtClean="0"/>
              <a:t>12/1/2024</a:t>
            </a:fld>
            <a:endParaRPr lang="en-US"/>
          </a:p>
        </p:txBody>
      </p:sp>
      <p:sp>
        <p:nvSpPr>
          <p:cNvPr id="5" name="Footer Placeholder 4">
            <a:extLst>
              <a:ext uri="{FF2B5EF4-FFF2-40B4-BE49-F238E27FC236}">
                <a16:creationId xmlns:a16="http://schemas.microsoft.com/office/drawing/2014/main" id="{EA9F88AB-C0AE-5588-CC66-6D22E5C430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C7197A-1BC5-B1DF-51D1-8199129BE505}"/>
              </a:ext>
            </a:extLst>
          </p:cNvPr>
          <p:cNvSpPr>
            <a:spLocks noGrp="1"/>
          </p:cNvSpPr>
          <p:nvPr>
            <p:ph type="sldNum" sz="quarter" idx="12"/>
          </p:nvPr>
        </p:nvSpPr>
        <p:spPr/>
        <p:txBody>
          <a:bodyPr/>
          <a:lstStyle/>
          <a:p>
            <a:fld id="{8071B7F1-6E25-4DDA-872A-968735EEE9FE}" type="slidenum">
              <a:rPr lang="en-US" smtClean="0"/>
              <a:t>‹#›</a:t>
            </a:fld>
            <a:endParaRPr lang="en-US"/>
          </a:p>
        </p:txBody>
      </p:sp>
    </p:spTree>
    <p:extLst>
      <p:ext uri="{BB962C8B-B14F-4D97-AF65-F5344CB8AC3E}">
        <p14:creationId xmlns:p14="http://schemas.microsoft.com/office/powerpoint/2010/main" val="1802234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C3205D-3788-2B5C-EC40-C2BC8B5CDB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BC76C5-73FE-B75D-3598-149C0C1BB2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642497-5ACB-A412-A7CC-2856790C83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A8E85-40C7-45C6-90AA-A18307FA08E5}" type="datetimeFigureOut">
              <a:rPr lang="en-US" smtClean="0"/>
              <a:t>12/1/2024</a:t>
            </a:fld>
            <a:endParaRPr lang="en-US"/>
          </a:p>
        </p:txBody>
      </p:sp>
      <p:sp>
        <p:nvSpPr>
          <p:cNvPr id="5" name="Footer Placeholder 4">
            <a:extLst>
              <a:ext uri="{FF2B5EF4-FFF2-40B4-BE49-F238E27FC236}">
                <a16:creationId xmlns:a16="http://schemas.microsoft.com/office/drawing/2014/main" id="{C0367A6F-8004-560B-8476-AA163695D1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3782EBB-6213-ED31-B34B-7EC0923564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71B7F1-6E25-4DDA-872A-968735EEE9FE}" type="slidenum">
              <a:rPr lang="en-US" smtClean="0"/>
              <a:t>‹#›</a:t>
            </a:fld>
            <a:endParaRPr lang="en-US"/>
          </a:p>
        </p:txBody>
      </p:sp>
    </p:spTree>
    <p:extLst>
      <p:ext uri="{BB962C8B-B14F-4D97-AF65-F5344CB8AC3E}">
        <p14:creationId xmlns:p14="http://schemas.microsoft.com/office/powerpoint/2010/main" val="3633326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graphicFrame>
        <p:nvGraphicFramePr>
          <p:cNvPr id="172" name="Google Shape;172;p23"/>
          <p:cNvGraphicFramePr/>
          <p:nvPr>
            <p:extLst>
              <p:ext uri="{D42A27DB-BD31-4B8C-83A1-F6EECF244321}">
                <p14:modId xmlns:p14="http://schemas.microsoft.com/office/powerpoint/2010/main" val="3947663617"/>
              </p:ext>
            </p:extLst>
          </p:nvPr>
        </p:nvGraphicFramePr>
        <p:xfrm>
          <a:off x="0" y="-22800"/>
          <a:ext cx="12191934" cy="7607160"/>
        </p:xfrm>
        <a:graphic>
          <a:graphicData uri="http://schemas.openxmlformats.org/drawingml/2006/table">
            <a:tbl>
              <a:tblPr>
                <a:noFill/>
              </a:tblPr>
              <a:tblGrid>
                <a:gridCol w="2462981">
                  <a:extLst>
                    <a:ext uri="{9D8B030D-6E8A-4147-A177-3AD203B41FA5}">
                      <a16:colId xmlns:a16="http://schemas.microsoft.com/office/drawing/2014/main" val="20000"/>
                    </a:ext>
                  </a:extLst>
                </a:gridCol>
                <a:gridCol w="2566219">
                  <a:extLst>
                    <a:ext uri="{9D8B030D-6E8A-4147-A177-3AD203B41FA5}">
                      <a16:colId xmlns:a16="http://schemas.microsoft.com/office/drawing/2014/main" val="20001"/>
                    </a:ext>
                  </a:extLst>
                </a:gridCol>
                <a:gridCol w="1066767">
                  <a:extLst>
                    <a:ext uri="{9D8B030D-6E8A-4147-A177-3AD203B41FA5}">
                      <a16:colId xmlns:a16="http://schemas.microsoft.com/office/drawing/2014/main" val="20002"/>
                    </a:ext>
                  </a:extLst>
                </a:gridCol>
                <a:gridCol w="1215567">
                  <a:extLst>
                    <a:ext uri="{9D8B030D-6E8A-4147-A177-3AD203B41FA5}">
                      <a16:colId xmlns:a16="http://schemas.microsoft.com/office/drawing/2014/main" val="20003"/>
                    </a:ext>
                  </a:extLst>
                </a:gridCol>
                <a:gridCol w="2805860">
                  <a:extLst>
                    <a:ext uri="{9D8B030D-6E8A-4147-A177-3AD203B41FA5}">
                      <a16:colId xmlns:a16="http://schemas.microsoft.com/office/drawing/2014/main" val="20004"/>
                    </a:ext>
                  </a:extLst>
                </a:gridCol>
                <a:gridCol w="2074540">
                  <a:extLst>
                    <a:ext uri="{9D8B030D-6E8A-4147-A177-3AD203B41FA5}">
                      <a16:colId xmlns:a16="http://schemas.microsoft.com/office/drawing/2014/main" val="20005"/>
                    </a:ext>
                  </a:extLst>
                </a:gridCol>
              </a:tblGrid>
              <a:tr h="886400">
                <a:tc gridSpan="6">
                  <a:txBody>
                    <a:bodyPr/>
                    <a:lstStyle/>
                    <a:p>
                      <a:pPr marL="0" lvl="0" indent="0" algn="l" rtl="0">
                        <a:spcBef>
                          <a:spcPts val="0"/>
                        </a:spcBef>
                        <a:spcAft>
                          <a:spcPts val="0"/>
                        </a:spcAft>
                        <a:buClr>
                          <a:schemeClr val="dk1"/>
                        </a:buClr>
                        <a:buSzPts val="1100"/>
                        <a:buFont typeface="Arial"/>
                        <a:buNone/>
                      </a:pPr>
                      <a:r>
                        <a:rPr lang="en" sz="3700" dirty="0">
                          <a:solidFill>
                            <a:srgbClr val="666666"/>
                          </a:solidFill>
                        </a:rPr>
                        <a:t>Lean Canvas Model</a:t>
                      </a:r>
                      <a:endParaRPr sz="1600" u="sng" dirty="0"/>
                    </a:p>
                  </a:txBody>
                  <a:tcPr marL="121900" marR="121900" marT="121900" marB="1219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solidFill>
                        <a:srgbClr val="000000">
                          <a:alpha val="0"/>
                        </a:srgbClr>
                      </a:solidFill>
                      <a:prstDash val="solid"/>
                      <a:round/>
                      <a:headEnd type="none" w="sm" len="sm"/>
                      <a:tailEnd type="none" w="sm" len="sm"/>
                    </a:lnT>
                    <a:lnB w="9525" cap="flat" cmpd="sng">
                      <a:solidFill>
                        <a:srgbClr val="B7B7B7"/>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286000">
                <a:tc rowSpan="3">
                  <a:txBody>
                    <a:bodyPr/>
                    <a:lstStyle/>
                    <a:p>
                      <a:pPr marL="0" lvl="0" indent="0" algn="l" rtl="0">
                        <a:spcBef>
                          <a:spcPts val="0"/>
                        </a:spcBef>
                        <a:spcAft>
                          <a:spcPts val="0"/>
                        </a:spcAft>
                        <a:buNone/>
                      </a:pPr>
                      <a:r>
                        <a:rPr lang="en" sz="1600" u="sng" dirty="0"/>
                        <a:t>Key Partners</a:t>
                      </a:r>
                      <a:endParaRPr sz="1600" u="sng" dirty="0"/>
                    </a:p>
                    <a:p>
                      <a:pPr marL="457200" lvl="0" indent="-292100" algn="l" rtl="0">
                        <a:spcBef>
                          <a:spcPts val="0"/>
                        </a:spcBef>
                        <a:spcAft>
                          <a:spcPts val="0"/>
                        </a:spcAft>
                        <a:buSzPts val="1000"/>
                        <a:buChar char="●"/>
                      </a:pPr>
                      <a:r>
                        <a:rPr lang="en" sz="1300" dirty="0"/>
                        <a:t>Skating rinks and training facilities</a:t>
                      </a:r>
                    </a:p>
                    <a:p>
                      <a:pPr marL="457200" lvl="0" indent="-292100" algn="l" rtl="0">
                        <a:spcBef>
                          <a:spcPts val="0"/>
                        </a:spcBef>
                        <a:spcAft>
                          <a:spcPts val="0"/>
                        </a:spcAft>
                        <a:buSzPts val="1000"/>
                        <a:buChar char="●"/>
                      </a:pPr>
                      <a:r>
                        <a:rPr lang="en" sz="1300" dirty="0"/>
                        <a:t>Retail stores (Canadian tire, dicks sporting goods, hockey monkey, pure hockey)</a:t>
                      </a:r>
                    </a:p>
                    <a:p>
                      <a:pPr marL="457200" lvl="0" indent="-292100" algn="l" rtl="0">
                        <a:spcBef>
                          <a:spcPts val="0"/>
                        </a:spcBef>
                        <a:spcAft>
                          <a:spcPts val="0"/>
                        </a:spcAft>
                        <a:buSzPts val="1000"/>
                        <a:buChar char="●"/>
                      </a:pPr>
                      <a:r>
                        <a:rPr lang="en" sz="1300" dirty="0"/>
                        <a:t>Local skating clubs/communities</a:t>
                      </a:r>
                    </a:p>
                    <a:p>
                      <a:pPr marL="457200" lvl="0" indent="-292100" algn="l" rtl="0">
                        <a:spcBef>
                          <a:spcPts val="0"/>
                        </a:spcBef>
                        <a:spcAft>
                          <a:spcPts val="0"/>
                        </a:spcAft>
                        <a:buSzPts val="1000"/>
                        <a:buChar char="●"/>
                      </a:pPr>
                      <a:r>
                        <a:rPr lang="en" sz="1300" dirty="0"/>
                        <a:t>Online retailers (eBay, amazon, sidelineswap)</a:t>
                      </a:r>
                    </a:p>
                    <a:p>
                      <a:pPr marL="457200" lvl="0" indent="-292100" algn="l" rtl="0">
                        <a:spcBef>
                          <a:spcPts val="0"/>
                        </a:spcBef>
                        <a:spcAft>
                          <a:spcPts val="0"/>
                        </a:spcAft>
                        <a:buSzPts val="1000"/>
                        <a:buChar char="●"/>
                      </a:pPr>
                      <a:r>
                        <a:rPr lang="en" sz="1300" dirty="0"/>
                        <a:t>Manufacturers and suppliers</a:t>
                      </a:r>
                    </a:p>
                    <a:p>
                      <a:pPr marL="457200" lvl="0" indent="-292100" algn="l" rtl="0">
                        <a:spcBef>
                          <a:spcPts val="0"/>
                        </a:spcBef>
                        <a:spcAft>
                          <a:spcPts val="0"/>
                        </a:spcAft>
                        <a:buSzPts val="1000"/>
                        <a:buChar char="●"/>
                      </a:pPr>
                      <a:r>
                        <a:rPr lang="en" sz="1300" dirty="0"/>
                        <a:t>Materials science experts</a:t>
                      </a:r>
                    </a:p>
                    <a:p>
                      <a:pPr marL="457200" lvl="0" indent="-292100" algn="l" rtl="0">
                        <a:spcBef>
                          <a:spcPts val="0"/>
                        </a:spcBef>
                        <a:spcAft>
                          <a:spcPts val="0"/>
                        </a:spcAft>
                        <a:buSzPts val="1000"/>
                        <a:buChar char="●"/>
                      </a:pPr>
                      <a:r>
                        <a:rPr lang="en" sz="1300" dirty="0"/>
                        <a:t>Marketing partners (Influencers and Athletes)</a:t>
                      </a:r>
                    </a:p>
                    <a:p>
                      <a:pPr marL="457200" lvl="0" indent="-292100" algn="l" rtl="0">
                        <a:spcBef>
                          <a:spcPts val="0"/>
                        </a:spcBef>
                        <a:spcAft>
                          <a:spcPts val="0"/>
                        </a:spcAft>
                        <a:buSzPts val="1000"/>
                        <a:buChar char="●"/>
                      </a:pPr>
                      <a:r>
                        <a:rPr lang="en" sz="1300" dirty="0"/>
                        <a:t>Professional organizations (NHL, PWHL, etc.)</a:t>
                      </a:r>
                    </a:p>
                    <a:p>
                      <a:pPr marL="457200" lvl="0" indent="-292100" algn="l" rtl="0">
                        <a:spcBef>
                          <a:spcPts val="0"/>
                        </a:spcBef>
                        <a:spcAft>
                          <a:spcPts val="0"/>
                        </a:spcAft>
                        <a:buSzPts val="1000"/>
                        <a:buChar char="●"/>
                      </a:pPr>
                      <a:r>
                        <a:rPr lang="en" sz="1300" dirty="0"/>
                        <a:t>Hockey equipment brands</a:t>
                      </a:r>
                    </a:p>
                    <a:p>
                      <a:pPr marL="457200" lvl="0" indent="-292100" algn="l" rtl="0">
                        <a:spcBef>
                          <a:spcPts val="0"/>
                        </a:spcBef>
                        <a:spcAft>
                          <a:spcPts val="0"/>
                        </a:spcAft>
                        <a:buSzPts val="1000"/>
                        <a:buChar char="●"/>
                      </a:pPr>
                      <a:r>
                        <a:rPr lang="en-US" sz="1300" b="1" dirty="0"/>
                        <a:t>Eco-Friendly Packaging Vendors</a:t>
                      </a:r>
                      <a:endParaRPr lang="en" sz="1300" b="1" dirty="0"/>
                    </a:p>
                    <a:p>
                      <a:pPr marL="165100" lvl="0" indent="0" algn="l" rtl="0">
                        <a:spcBef>
                          <a:spcPts val="0"/>
                        </a:spcBef>
                        <a:spcAft>
                          <a:spcPts val="0"/>
                        </a:spcAft>
                        <a:buSzPts val="1000"/>
                        <a:buNone/>
                      </a:pPr>
                      <a:endParaRPr sz="1300" dirty="0"/>
                    </a:p>
                  </a:txBody>
                  <a:tcPr marL="121900" marR="121900" marT="121900" marB="121900">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en" sz="1600" u="sng" dirty="0"/>
                        <a:t>Key Activities</a:t>
                      </a:r>
                    </a:p>
                    <a:p>
                      <a:pPr marL="457200" lvl="0" indent="-292100" algn="l" rtl="0">
                        <a:spcBef>
                          <a:spcPts val="0"/>
                        </a:spcBef>
                        <a:spcAft>
                          <a:spcPts val="0"/>
                        </a:spcAft>
                        <a:buSzPts val="1000"/>
                        <a:buChar char="●"/>
                      </a:pPr>
                      <a:r>
                        <a:rPr lang="en-US" sz="1300" dirty="0"/>
                        <a:t>Device development and design</a:t>
                      </a:r>
                    </a:p>
                    <a:p>
                      <a:pPr marL="457200" lvl="0" indent="-292100" algn="l" rtl="0">
                        <a:spcBef>
                          <a:spcPts val="0"/>
                        </a:spcBef>
                        <a:spcAft>
                          <a:spcPts val="0"/>
                        </a:spcAft>
                        <a:buSzPts val="1000"/>
                        <a:buChar char="●"/>
                      </a:pPr>
                      <a:r>
                        <a:rPr lang="en-US" sz="1300" dirty="0"/>
                        <a:t>Device manufacturing and supply chain management</a:t>
                      </a:r>
                    </a:p>
                    <a:p>
                      <a:pPr marL="457200" lvl="0" indent="-292100" algn="l" rtl="0">
                        <a:spcBef>
                          <a:spcPts val="0"/>
                        </a:spcBef>
                        <a:spcAft>
                          <a:spcPts val="0"/>
                        </a:spcAft>
                        <a:buSzPts val="1000"/>
                        <a:buChar char="●"/>
                      </a:pPr>
                      <a:r>
                        <a:rPr lang="en-US" sz="1300" dirty="0"/>
                        <a:t>Testing and Evaluation</a:t>
                      </a:r>
                    </a:p>
                    <a:p>
                      <a:pPr marL="457200" lvl="0" indent="-292100" algn="l" rtl="0">
                        <a:spcBef>
                          <a:spcPts val="0"/>
                        </a:spcBef>
                        <a:spcAft>
                          <a:spcPts val="0"/>
                        </a:spcAft>
                        <a:buSzPts val="1000"/>
                        <a:buChar char="●"/>
                      </a:pPr>
                      <a:r>
                        <a:rPr lang="en-US" sz="1300" dirty="0"/>
                        <a:t>Marketing and sales</a:t>
                      </a:r>
                    </a:p>
                    <a:p>
                      <a:pPr marL="457200" lvl="0" indent="-292100" algn="l" rtl="0">
                        <a:spcBef>
                          <a:spcPts val="0"/>
                        </a:spcBef>
                        <a:spcAft>
                          <a:spcPts val="0"/>
                        </a:spcAft>
                        <a:buSzPts val="1000"/>
                        <a:buChar char="●"/>
                      </a:pPr>
                      <a:r>
                        <a:rPr lang="en-US" sz="1300" dirty="0"/>
                        <a:t>Distribution and logistics</a:t>
                      </a:r>
                    </a:p>
                    <a:p>
                      <a:pPr marL="457200" lvl="0" indent="-292100" algn="l" rtl="0">
                        <a:spcBef>
                          <a:spcPts val="0"/>
                        </a:spcBef>
                        <a:spcAft>
                          <a:spcPts val="0"/>
                        </a:spcAft>
                        <a:buSzPts val="1000"/>
                        <a:buChar char="●"/>
                      </a:pPr>
                      <a:r>
                        <a:rPr lang="en-US" sz="1300" dirty="0"/>
                        <a:t>Customer support</a:t>
                      </a:r>
                    </a:p>
                    <a:p>
                      <a:pPr marL="457200" lvl="0" indent="-292100" algn="l" rtl="0">
                        <a:spcBef>
                          <a:spcPts val="0"/>
                        </a:spcBef>
                        <a:spcAft>
                          <a:spcPts val="0"/>
                        </a:spcAft>
                        <a:buSzPts val="1000"/>
                        <a:buChar char="●"/>
                      </a:pPr>
                      <a:r>
                        <a:rPr lang="en-US" sz="1300" b="1" dirty="0"/>
                        <a:t>Prototype Testing with Professional Athletes</a:t>
                      </a:r>
                    </a:p>
                  </a:txBody>
                  <a:tcPr marL="121900" marR="121900" marT="121900" marB="121900">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rowSpan="3" gridSpan="2">
                  <a:txBody>
                    <a:bodyPr/>
                    <a:lstStyle/>
                    <a:p>
                      <a:pPr marL="0" lvl="0" indent="0" algn="l" rtl="0">
                        <a:spcBef>
                          <a:spcPts val="0"/>
                        </a:spcBef>
                        <a:spcAft>
                          <a:spcPts val="0"/>
                        </a:spcAft>
                        <a:buNone/>
                      </a:pPr>
                      <a:r>
                        <a:rPr lang="en" sz="1600" u="sng" dirty="0"/>
                        <a:t>Value Propositions</a:t>
                      </a:r>
                      <a:endParaRPr sz="1300" dirty="0"/>
                    </a:p>
                    <a:p>
                      <a:pPr marL="457200" lvl="0" indent="-292100" algn="l" rtl="0">
                        <a:spcBef>
                          <a:spcPts val="0"/>
                        </a:spcBef>
                        <a:spcAft>
                          <a:spcPts val="0"/>
                        </a:spcAft>
                        <a:buSzPts val="1000"/>
                        <a:buChar char="●"/>
                      </a:pPr>
                      <a:r>
                        <a:rPr lang="en" sz="1300" dirty="0"/>
                        <a:t>Portability and convenience</a:t>
                      </a:r>
                    </a:p>
                    <a:p>
                      <a:pPr marL="457200" lvl="0" indent="-292100" algn="l" rtl="0">
                        <a:spcBef>
                          <a:spcPts val="0"/>
                        </a:spcBef>
                        <a:spcAft>
                          <a:spcPts val="0"/>
                        </a:spcAft>
                        <a:buSzPts val="1000"/>
                        <a:buChar char="●"/>
                      </a:pPr>
                      <a:r>
                        <a:rPr lang="en" sz="1300" dirty="0"/>
                        <a:t>Improved performance</a:t>
                      </a:r>
                    </a:p>
                    <a:p>
                      <a:pPr marL="457200" lvl="0" indent="-292100" algn="l" rtl="0">
                        <a:spcBef>
                          <a:spcPts val="0"/>
                        </a:spcBef>
                        <a:spcAft>
                          <a:spcPts val="0"/>
                        </a:spcAft>
                        <a:buSzPts val="1000"/>
                        <a:buChar char="●"/>
                      </a:pPr>
                      <a:r>
                        <a:rPr lang="en" sz="1300" dirty="0"/>
                        <a:t>Cost saving</a:t>
                      </a:r>
                    </a:p>
                    <a:p>
                      <a:pPr marL="457200" lvl="0" indent="-292100" algn="l" rtl="0">
                        <a:spcBef>
                          <a:spcPts val="0"/>
                        </a:spcBef>
                        <a:spcAft>
                          <a:spcPts val="0"/>
                        </a:spcAft>
                        <a:buSzPts val="1000"/>
                        <a:buChar char="●"/>
                      </a:pPr>
                      <a:r>
                        <a:rPr lang="en" sz="1300" dirty="0"/>
                        <a:t>Consistency and customizability </a:t>
                      </a:r>
                    </a:p>
                    <a:p>
                      <a:pPr marL="457200" lvl="0" indent="-292100" algn="l" rtl="0">
                        <a:spcBef>
                          <a:spcPts val="0"/>
                        </a:spcBef>
                        <a:spcAft>
                          <a:spcPts val="0"/>
                        </a:spcAft>
                        <a:buSzPts val="1000"/>
                        <a:buChar char="●"/>
                      </a:pPr>
                      <a:r>
                        <a:rPr lang="en" sz="1300" dirty="0"/>
                        <a:t>Versatility</a:t>
                      </a:r>
                    </a:p>
                    <a:p>
                      <a:pPr marL="457200" lvl="0" indent="-292100" algn="l" rtl="0">
                        <a:spcBef>
                          <a:spcPts val="0"/>
                        </a:spcBef>
                        <a:spcAft>
                          <a:spcPts val="0"/>
                        </a:spcAft>
                        <a:buSzPts val="1000"/>
                        <a:buChar char="●"/>
                      </a:pPr>
                      <a:r>
                        <a:rPr lang="en-US" sz="1300" b="1" dirty="0"/>
                        <a:t>Time-Saving Tool</a:t>
                      </a:r>
                      <a:endParaRPr sz="1300" b="1" dirty="0"/>
                    </a:p>
                  </a:txBody>
                  <a:tcPr marL="121900" marR="121900" marT="121900" marB="121900">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rowSpan="3" hMerge="1">
                  <a:txBody>
                    <a:bodyPr/>
                    <a:lstStyle/>
                    <a:p>
                      <a:endParaRPr lang="en-US"/>
                    </a:p>
                  </a:txBody>
                  <a:tcPr/>
                </a:tc>
                <a:tc rowSpan="2">
                  <a:txBody>
                    <a:bodyPr/>
                    <a:lstStyle/>
                    <a:p>
                      <a:pPr marL="0" lvl="0" indent="0" algn="l" rtl="0">
                        <a:spcBef>
                          <a:spcPts val="0"/>
                        </a:spcBef>
                        <a:spcAft>
                          <a:spcPts val="0"/>
                        </a:spcAft>
                        <a:buNone/>
                      </a:pPr>
                      <a:r>
                        <a:rPr lang="en" sz="1600" u="sng" dirty="0"/>
                        <a:t>Customer Relationships</a:t>
                      </a:r>
                      <a:endParaRPr sz="1600" u="sng" dirty="0"/>
                    </a:p>
                    <a:p>
                      <a:pPr marL="457200" lvl="0" indent="-292100" algn="l" rtl="0">
                        <a:spcBef>
                          <a:spcPts val="0"/>
                        </a:spcBef>
                        <a:spcAft>
                          <a:spcPts val="0"/>
                        </a:spcAft>
                        <a:buSzPts val="1000"/>
                        <a:buChar char="●"/>
                      </a:pPr>
                      <a:r>
                        <a:rPr lang="en" sz="1300" dirty="0"/>
                        <a:t>Targeted ads online and on social media</a:t>
                      </a:r>
                    </a:p>
                    <a:p>
                      <a:pPr marL="457200" lvl="0" indent="-292100" algn="l" rtl="0">
                        <a:spcBef>
                          <a:spcPts val="0"/>
                        </a:spcBef>
                        <a:spcAft>
                          <a:spcPts val="0"/>
                        </a:spcAft>
                        <a:buSzPts val="1000"/>
                        <a:buChar char="●"/>
                      </a:pPr>
                      <a:r>
                        <a:rPr lang="en" sz="1300" dirty="0"/>
                        <a:t>Warranty and repair services</a:t>
                      </a:r>
                    </a:p>
                    <a:p>
                      <a:pPr marL="457200" lvl="0" indent="-292100" algn="l" rtl="0">
                        <a:spcBef>
                          <a:spcPts val="0"/>
                        </a:spcBef>
                        <a:spcAft>
                          <a:spcPts val="0"/>
                        </a:spcAft>
                        <a:buSzPts val="1000"/>
                        <a:buChar char="●"/>
                      </a:pPr>
                      <a:r>
                        <a:rPr lang="en" sz="1300" dirty="0"/>
                        <a:t>Subscription boxes</a:t>
                      </a:r>
                    </a:p>
                    <a:p>
                      <a:pPr marL="457200" lvl="0" indent="-292100" algn="l" rtl="0">
                        <a:spcBef>
                          <a:spcPts val="0"/>
                        </a:spcBef>
                        <a:spcAft>
                          <a:spcPts val="0"/>
                        </a:spcAft>
                        <a:buSzPts val="1000"/>
                        <a:buChar char="●"/>
                      </a:pPr>
                      <a:r>
                        <a:rPr lang="en" sz="1300" dirty="0"/>
                        <a:t>Email newsletters and marketing</a:t>
                      </a:r>
                    </a:p>
                    <a:p>
                      <a:pPr marL="457200" lvl="0" indent="-292100" algn="l" rtl="0">
                        <a:spcBef>
                          <a:spcPts val="0"/>
                        </a:spcBef>
                        <a:spcAft>
                          <a:spcPts val="0"/>
                        </a:spcAft>
                        <a:buSzPts val="1000"/>
                        <a:buChar char="●"/>
                      </a:pPr>
                      <a:r>
                        <a:rPr lang="en" sz="1300" dirty="0"/>
                        <a:t>Social media engagement</a:t>
                      </a:r>
                    </a:p>
                    <a:p>
                      <a:pPr marL="457200" lvl="0" indent="-292100" algn="l" rtl="0">
                        <a:spcBef>
                          <a:spcPts val="0"/>
                        </a:spcBef>
                        <a:spcAft>
                          <a:spcPts val="0"/>
                        </a:spcAft>
                        <a:buSzPts val="1000"/>
                        <a:buChar char="●"/>
                      </a:pPr>
                      <a:r>
                        <a:rPr lang="en" sz="1300" dirty="0"/>
                        <a:t>Demos and presence at hockey tournaments and events</a:t>
                      </a:r>
                    </a:p>
                    <a:p>
                      <a:pPr marL="457200" lvl="0" indent="-292100" algn="l" rtl="0">
                        <a:spcBef>
                          <a:spcPts val="0"/>
                        </a:spcBef>
                        <a:spcAft>
                          <a:spcPts val="0"/>
                        </a:spcAft>
                        <a:buSzPts val="1000"/>
                        <a:buChar char="●"/>
                      </a:pPr>
                      <a:r>
                        <a:rPr lang="en" sz="1300" dirty="0"/>
                        <a:t>Local club partnerships</a:t>
                      </a:r>
                    </a:p>
                    <a:p>
                      <a:pPr marL="457200" lvl="0" indent="-292100" algn="l" rtl="0">
                        <a:spcBef>
                          <a:spcPts val="0"/>
                        </a:spcBef>
                        <a:spcAft>
                          <a:spcPts val="0"/>
                        </a:spcAft>
                        <a:buSzPts val="1000"/>
                        <a:buChar char="●"/>
                      </a:pPr>
                      <a:r>
                        <a:rPr lang="en" sz="1300" dirty="0"/>
                        <a:t>User testing and trial programs</a:t>
                      </a:r>
                      <a:endParaRPr sz="1300" dirty="0"/>
                    </a:p>
                  </a:txBody>
                  <a:tcPr marL="121900" marR="121900" marT="121900" marB="121900">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rowSpan="3">
                  <a:txBody>
                    <a:bodyPr/>
                    <a:lstStyle/>
                    <a:p>
                      <a:pPr marL="0" lvl="0" indent="0" algn="l" rtl="0">
                        <a:spcBef>
                          <a:spcPts val="0"/>
                        </a:spcBef>
                        <a:spcAft>
                          <a:spcPts val="0"/>
                        </a:spcAft>
                        <a:buNone/>
                      </a:pPr>
                      <a:r>
                        <a:rPr lang="en" sz="1600" u="sng" dirty="0"/>
                        <a:t>Customer Segments</a:t>
                      </a:r>
                      <a:endParaRPr sz="1600" u="sng" dirty="0"/>
                    </a:p>
                    <a:p>
                      <a:pPr marL="457200" lvl="0" indent="-292100" algn="l" rtl="0">
                        <a:spcBef>
                          <a:spcPts val="0"/>
                        </a:spcBef>
                        <a:spcAft>
                          <a:spcPts val="0"/>
                        </a:spcAft>
                        <a:buSzPts val="1000"/>
                        <a:buChar char="●"/>
                      </a:pPr>
                      <a:r>
                        <a:rPr lang="en-US" sz="1300" dirty="0"/>
                        <a:t>Amateur and professional hockey players </a:t>
                      </a:r>
                      <a:r>
                        <a:rPr lang="en-US" sz="1300" b="1" strike="sngStrike" dirty="0"/>
                        <a:t>and figure skaters</a:t>
                      </a:r>
                    </a:p>
                    <a:p>
                      <a:pPr marL="457200" lvl="0" indent="-292100" algn="l" rtl="0">
                        <a:spcBef>
                          <a:spcPts val="0"/>
                        </a:spcBef>
                        <a:spcAft>
                          <a:spcPts val="0"/>
                        </a:spcAft>
                        <a:buSzPts val="1000"/>
                        <a:buChar char="●"/>
                      </a:pPr>
                      <a:r>
                        <a:rPr lang="en-US" sz="1300" dirty="0"/>
                        <a:t>Parents of hockey players ages 3-14</a:t>
                      </a:r>
                    </a:p>
                    <a:p>
                      <a:pPr marL="457200" lvl="0" indent="-292100" algn="l" rtl="0">
                        <a:spcBef>
                          <a:spcPts val="0"/>
                        </a:spcBef>
                        <a:spcAft>
                          <a:spcPts val="0"/>
                        </a:spcAft>
                        <a:buSzPts val="1000"/>
                        <a:buChar char="●"/>
                      </a:pPr>
                      <a:r>
                        <a:rPr lang="en-US" sz="1300" dirty="0"/>
                        <a:t>Coaches and trainers for skating-based sports</a:t>
                      </a:r>
                    </a:p>
                    <a:p>
                      <a:pPr marL="457200" lvl="0" indent="-292100" algn="l" rtl="0">
                        <a:spcBef>
                          <a:spcPts val="0"/>
                        </a:spcBef>
                        <a:spcAft>
                          <a:spcPts val="0"/>
                        </a:spcAft>
                        <a:buSzPts val="1000"/>
                        <a:buChar char="●"/>
                      </a:pPr>
                      <a:r>
                        <a:rPr lang="en-US" sz="1300" dirty="0"/>
                        <a:t>Recreational skaters of all ages</a:t>
                      </a:r>
                    </a:p>
                  </a:txBody>
                  <a:tcPr marL="121900" marR="121900" marT="121900" marB="121900">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10001"/>
                  </a:ext>
                </a:extLst>
              </a:tr>
              <a:tr h="434258">
                <a:tc vMerge="1">
                  <a:txBody>
                    <a:bodyPr/>
                    <a:lstStyle/>
                    <a:p>
                      <a:endParaRPr lang="en-US"/>
                    </a:p>
                  </a:txBody>
                  <a:tcPr>
                    <a:lnT w="9525" cap="flat" cmpd="sng" algn="ctr">
                      <a:solidFill>
                        <a:srgbClr val="B7B7B7"/>
                      </a:solidFill>
                      <a:prstDash val="solid"/>
                      <a:round/>
                      <a:headEnd type="none" w="sm" len="sm"/>
                      <a:tailEnd type="none" w="sm" len="sm"/>
                    </a:lnT>
                  </a:tcPr>
                </a:tc>
                <a:tc rowSpan="2">
                  <a:txBody>
                    <a:bodyPr/>
                    <a:lstStyle/>
                    <a:p>
                      <a:pPr marL="0" lvl="0" indent="0" algn="l" rtl="0">
                        <a:spcBef>
                          <a:spcPts val="0"/>
                        </a:spcBef>
                        <a:spcAft>
                          <a:spcPts val="0"/>
                        </a:spcAft>
                        <a:buNone/>
                      </a:pPr>
                      <a:r>
                        <a:rPr lang="en" sz="1600" u="sng" dirty="0"/>
                        <a:t>Key Resources</a:t>
                      </a:r>
                      <a:endParaRPr sz="1600" u="sng" dirty="0"/>
                    </a:p>
                    <a:p>
                      <a:pPr marL="457200" lvl="0" indent="-292100" algn="l" rtl="0">
                        <a:spcBef>
                          <a:spcPts val="0"/>
                        </a:spcBef>
                        <a:spcAft>
                          <a:spcPts val="0"/>
                        </a:spcAft>
                        <a:buSzPts val="1000"/>
                        <a:buChar char="●"/>
                      </a:pPr>
                      <a:r>
                        <a:rPr lang="en-US" sz="1300" dirty="0"/>
                        <a:t>Customer Support Team</a:t>
                      </a:r>
                    </a:p>
                    <a:p>
                      <a:pPr marL="457200" lvl="0" indent="-292100" algn="l" rtl="0">
                        <a:spcBef>
                          <a:spcPts val="0"/>
                        </a:spcBef>
                        <a:spcAft>
                          <a:spcPts val="0"/>
                        </a:spcAft>
                        <a:buSzPts val="1000"/>
                        <a:buChar char="●"/>
                      </a:pPr>
                      <a:r>
                        <a:rPr lang="en-US" sz="1300" dirty="0"/>
                        <a:t>Marketing and Sales Team</a:t>
                      </a:r>
                    </a:p>
                    <a:p>
                      <a:pPr marL="457200" lvl="0" indent="-292100" algn="l" rtl="0">
                        <a:spcBef>
                          <a:spcPts val="0"/>
                        </a:spcBef>
                        <a:spcAft>
                          <a:spcPts val="0"/>
                        </a:spcAft>
                        <a:buSzPts val="1000"/>
                        <a:buChar char="●"/>
                      </a:pPr>
                      <a:r>
                        <a:rPr lang="en-US" sz="1300" dirty="0"/>
                        <a:t>Quality Raw Materials</a:t>
                      </a:r>
                    </a:p>
                    <a:p>
                      <a:pPr marL="457200" lvl="0" indent="-292100" algn="l" rtl="0">
                        <a:spcBef>
                          <a:spcPts val="0"/>
                        </a:spcBef>
                        <a:spcAft>
                          <a:spcPts val="0"/>
                        </a:spcAft>
                        <a:buSzPts val="1000"/>
                        <a:buChar char="●"/>
                      </a:pPr>
                      <a:r>
                        <a:rPr lang="en-US" sz="1300" dirty="0"/>
                        <a:t>Manufacturing facilities</a:t>
                      </a:r>
                    </a:p>
                    <a:p>
                      <a:pPr marL="457200" lvl="0" indent="-292100" algn="l" rtl="0">
                        <a:spcBef>
                          <a:spcPts val="0"/>
                        </a:spcBef>
                        <a:spcAft>
                          <a:spcPts val="0"/>
                        </a:spcAft>
                        <a:buSzPts val="1000"/>
                        <a:buChar char="●"/>
                      </a:pPr>
                      <a:r>
                        <a:rPr lang="en-US" sz="1300" dirty="0"/>
                        <a:t>Patents and Trademarks</a:t>
                      </a:r>
                    </a:p>
                    <a:p>
                      <a:pPr marL="165100" lvl="0" indent="0" algn="l" rtl="0">
                        <a:spcBef>
                          <a:spcPts val="0"/>
                        </a:spcBef>
                        <a:spcAft>
                          <a:spcPts val="0"/>
                        </a:spcAft>
                        <a:buSzPts val="1000"/>
                        <a:buNone/>
                      </a:pPr>
                      <a:endParaRPr lang="en-US" sz="1300" dirty="0"/>
                    </a:p>
                  </a:txBody>
                  <a:tcPr marL="121900" marR="121900" marT="121900" marB="121900">
                    <a:lnR w="9525" cap="flat" cmpd="sng" algn="ctr">
                      <a:solidFill>
                        <a:srgbClr val="B7B7B7"/>
                      </a:solidFill>
                      <a:prstDash val="solid"/>
                      <a:round/>
                      <a:headEnd type="none" w="sm" len="sm"/>
                      <a:tailEnd type="none" w="sm" len="sm"/>
                    </a:lnR>
                    <a:lnT w="9525" cap="flat" cmpd="sng" algn="ctr">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gridSpan="2" vMerge="1">
                  <a:txBody>
                    <a:bodyPr/>
                    <a:lstStyle/>
                    <a:p>
                      <a:endParaRPr lang="en-US"/>
                    </a:p>
                  </a:txBody>
                  <a:tcPr>
                    <a:lnL w="9525" cap="flat" cmpd="sng" algn="ctr">
                      <a:solidFill>
                        <a:srgbClr val="B7B7B7"/>
                      </a:solidFill>
                      <a:prstDash val="solid"/>
                      <a:round/>
                      <a:headEnd type="none" w="sm" len="sm"/>
                      <a:tailEnd type="none" w="sm" len="sm"/>
                    </a:lnL>
                    <a:lnT w="9525" cap="flat" cmpd="sng" algn="ctr">
                      <a:solidFill>
                        <a:srgbClr val="B7B7B7"/>
                      </a:solidFill>
                      <a:prstDash val="solid"/>
                      <a:round/>
                      <a:headEnd type="none" w="sm" len="sm"/>
                      <a:tailEnd type="none" w="sm" len="sm"/>
                    </a:lnT>
                  </a:tcPr>
                </a:tc>
                <a:tc hMerge="1" vMerge="1">
                  <a:txBody>
                    <a:bodyPr/>
                    <a:lstStyle/>
                    <a:p>
                      <a:endParaRPr lang="en-US"/>
                    </a:p>
                  </a:txBody>
                  <a:tcPr/>
                </a:tc>
                <a:tc vMerge="1">
                  <a:txBody>
                    <a:bodyPr/>
                    <a:lstStyle/>
                    <a:p>
                      <a:pPr marL="0" lvl="0" indent="0" algn="l" rtl="0">
                        <a:spcBef>
                          <a:spcPts val="0"/>
                        </a:spcBef>
                        <a:spcAft>
                          <a:spcPts val="0"/>
                        </a:spcAft>
                        <a:buNone/>
                      </a:pPr>
                      <a:r>
                        <a:rPr lang="en" sz="1600" u="sng" dirty="0">
                          <a:highlight>
                            <a:srgbClr val="00FFFF"/>
                          </a:highlight>
                        </a:rPr>
                        <a:t>Channels</a:t>
                      </a:r>
                      <a:endParaRPr sz="1600" u="sng" dirty="0">
                        <a:highlight>
                          <a:srgbClr val="00FFFF"/>
                        </a:highlight>
                      </a:endParaRPr>
                    </a:p>
                    <a:p>
                      <a:pPr marL="457200" lvl="0" indent="-292100" algn="l" rtl="0">
                        <a:spcBef>
                          <a:spcPts val="0"/>
                        </a:spcBef>
                        <a:spcAft>
                          <a:spcPts val="0"/>
                        </a:spcAft>
                        <a:buSzPts val="1000"/>
                        <a:buChar char="●"/>
                      </a:pPr>
                      <a:r>
                        <a:rPr lang="en-US" sz="1300" dirty="0"/>
                        <a:t>Social Media</a:t>
                      </a:r>
                    </a:p>
                    <a:p>
                      <a:pPr marL="457200" lvl="0" indent="-292100" algn="l" rtl="0">
                        <a:spcBef>
                          <a:spcPts val="0"/>
                        </a:spcBef>
                        <a:spcAft>
                          <a:spcPts val="0"/>
                        </a:spcAft>
                        <a:buSzPts val="1000"/>
                        <a:buChar char="●"/>
                      </a:pPr>
                      <a:r>
                        <a:rPr lang="en-US" sz="1300" dirty="0"/>
                        <a:t>Word of Mouth</a:t>
                      </a:r>
                    </a:p>
                    <a:p>
                      <a:pPr marL="457200" lvl="0" indent="-292100" algn="l" rtl="0">
                        <a:spcBef>
                          <a:spcPts val="0"/>
                        </a:spcBef>
                        <a:spcAft>
                          <a:spcPts val="0"/>
                        </a:spcAft>
                        <a:buSzPts val="1000"/>
                        <a:buChar char="●"/>
                      </a:pPr>
                      <a:r>
                        <a:rPr lang="en-US" sz="1300" dirty="0"/>
                        <a:t>Email campaigns</a:t>
                      </a:r>
                    </a:p>
                    <a:p>
                      <a:pPr marL="457200" lvl="0" indent="-292100" algn="l" rtl="0">
                        <a:spcBef>
                          <a:spcPts val="0"/>
                        </a:spcBef>
                        <a:spcAft>
                          <a:spcPts val="0"/>
                        </a:spcAft>
                        <a:buSzPts val="1000"/>
                        <a:buChar char="●"/>
                      </a:pPr>
                      <a:endParaRPr sz="1300" dirty="0"/>
                    </a:p>
                  </a:txBody>
                  <a:tcPr marL="121900" marR="121900" marT="121900" marB="121900">
                    <a:lnR w="9525" cap="flat" cmpd="sng" algn="ctr">
                      <a:solidFill>
                        <a:srgbClr val="B7B7B7"/>
                      </a:solidFill>
                      <a:prstDash val="solid"/>
                      <a:round/>
                      <a:headEnd type="none" w="sm" len="sm"/>
                      <a:tailEnd type="none" w="sm" len="sm"/>
                    </a:lnR>
                    <a:lnT w="9525" cap="flat" cmpd="sng" algn="ctr">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vMerge="1">
                  <a:txBody>
                    <a:bodyPr/>
                    <a:lstStyle/>
                    <a:p>
                      <a:endParaRPr lang="en-US"/>
                    </a:p>
                  </a:txBody>
                  <a:tcPr>
                    <a:lnL w="9525" cap="flat" cmpd="sng" algn="ctr">
                      <a:solidFill>
                        <a:srgbClr val="B7B7B7"/>
                      </a:solidFill>
                      <a:prstDash val="solid"/>
                      <a:round/>
                      <a:headEnd type="none" w="sm" len="sm"/>
                      <a:tailEnd type="none" w="sm" len="sm"/>
                    </a:lnL>
                    <a:lnT w="9525" cap="flat" cmpd="sng" algn="ctr">
                      <a:solidFill>
                        <a:srgbClr val="B7B7B7"/>
                      </a:solidFill>
                      <a:prstDash val="solid"/>
                      <a:round/>
                      <a:headEnd type="none" w="sm" len="sm"/>
                      <a:tailEnd type="none" w="sm" len="sm"/>
                    </a:lnT>
                  </a:tcPr>
                </a:tc>
                <a:extLst>
                  <a:ext uri="{0D108BD9-81ED-4DB2-BD59-A6C34878D82A}">
                    <a16:rowId xmlns:a16="http://schemas.microsoft.com/office/drawing/2014/main" val="10002"/>
                  </a:ext>
                </a:extLst>
              </a:tr>
              <a:tr h="779943">
                <a:tc vMerge="1">
                  <a:txBody>
                    <a:bodyPr/>
                    <a:lstStyle/>
                    <a:p>
                      <a:pPr marL="165100" lvl="0" indent="0" algn="l" rtl="0">
                        <a:spcBef>
                          <a:spcPts val="0"/>
                        </a:spcBef>
                        <a:spcAft>
                          <a:spcPts val="0"/>
                        </a:spcAft>
                        <a:buSzPts val="1000"/>
                        <a:buNone/>
                      </a:pPr>
                      <a:endParaRPr sz="1300" dirty="0"/>
                    </a:p>
                  </a:txBody>
                  <a:tcPr marL="121900" marR="121900" marT="121900" marB="121900">
                    <a:lnL w="9525" cap="flat" cmpd="sng">
                      <a:solidFill>
                        <a:srgbClr val="B7B7B7"/>
                      </a:solidFill>
                      <a:prstDash val="solid"/>
                      <a:round/>
                      <a:headEnd type="none" w="sm" len="sm"/>
                      <a:tailEnd type="none" w="sm" len="sm"/>
                    </a:lnL>
                    <a:lnT w="9525" cap="flat" cmpd="sng" algn="ctr">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vMerge="1">
                  <a:txBody>
                    <a:bodyPr/>
                    <a:lstStyle/>
                    <a:p>
                      <a:pPr marL="165100" lvl="0" indent="0" algn="l" rtl="0">
                        <a:spcBef>
                          <a:spcPts val="0"/>
                        </a:spcBef>
                        <a:spcAft>
                          <a:spcPts val="0"/>
                        </a:spcAft>
                        <a:buSzPts val="1000"/>
                        <a:buNone/>
                      </a:pPr>
                      <a:endParaRPr lang="en-US" sz="1300" dirty="0"/>
                    </a:p>
                  </a:txBody>
                  <a:tcPr marL="121900" marR="121900" marT="121900" marB="121900">
                    <a:lnR w="9525" cap="flat" cmpd="sng" algn="ctr">
                      <a:solidFill>
                        <a:srgbClr val="B7B7B7"/>
                      </a:solidFill>
                      <a:prstDash val="solid"/>
                      <a:round/>
                      <a:headEnd type="none" w="sm" len="sm"/>
                      <a:tailEnd type="none" w="sm" len="sm"/>
                    </a:lnR>
                    <a:lnT w="9525" cap="flat" cmpd="sng" algn="ctr">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gridSpan="2" vMerge="1">
                  <a:txBody>
                    <a:bodyPr/>
                    <a:lstStyle/>
                    <a:p>
                      <a:pPr marL="457200" lvl="0" indent="-292100" algn="l" rtl="0">
                        <a:spcBef>
                          <a:spcPts val="0"/>
                        </a:spcBef>
                        <a:spcAft>
                          <a:spcPts val="0"/>
                        </a:spcAft>
                        <a:buSzPts val="1000"/>
                        <a:buChar char="●"/>
                      </a:pPr>
                      <a:endParaRPr sz="1300" dirty="0"/>
                    </a:p>
                  </a:txBody>
                  <a:tcPr marL="121900" marR="121900" marT="121900" marB="121900">
                    <a:lnL w="9525" cap="flat" cmpd="sng" algn="ctr">
                      <a:solidFill>
                        <a:srgbClr val="B7B7B7"/>
                      </a:solidFill>
                      <a:prstDash val="solid"/>
                      <a:round/>
                      <a:headEnd type="none" w="sm" len="sm"/>
                      <a:tailEnd type="none" w="sm" len="sm"/>
                    </a:lnL>
                    <a:lnT w="9525" cap="flat" cmpd="sng" algn="ctr">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hMerge="1" vMerge="1">
                  <a:txBody>
                    <a:bodyPr/>
                    <a:lstStyle/>
                    <a:p>
                      <a:endParaRPr lang="en-US"/>
                    </a:p>
                  </a:txBody>
                  <a:tcPr/>
                </a:tc>
                <a:tc>
                  <a:txBody>
                    <a:bodyPr/>
                    <a:lstStyle/>
                    <a:p>
                      <a:pPr marL="0" lvl="0" indent="0" algn="l" rtl="0">
                        <a:spcBef>
                          <a:spcPts val="0"/>
                        </a:spcBef>
                        <a:spcAft>
                          <a:spcPts val="0"/>
                        </a:spcAft>
                        <a:buNone/>
                      </a:pPr>
                      <a:r>
                        <a:rPr lang="en-US" sz="1600" u="sng" dirty="0"/>
                        <a:t>Channels</a:t>
                      </a:r>
                    </a:p>
                    <a:p>
                      <a:pPr marL="457200" lvl="0" indent="-292100" algn="l" rtl="0">
                        <a:spcBef>
                          <a:spcPts val="0"/>
                        </a:spcBef>
                        <a:spcAft>
                          <a:spcPts val="0"/>
                        </a:spcAft>
                        <a:buSzPts val="1000"/>
                        <a:buChar char="●"/>
                      </a:pPr>
                      <a:r>
                        <a:rPr lang="en-US" sz="1300" dirty="0"/>
                        <a:t>Social Media</a:t>
                      </a:r>
                    </a:p>
                    <a:p>
                      <a:pPr marL="457200" lvl="0" indent="-292100" algn="l" rtl="0">
                        <a:spcBef>
                          <a:spcPts val="0"/>
                        </a:spcBef>
                        <a:spcAft>
                          <a:spcPts val="0"/>
                        </a:spcAft>
                        <a:buSzPts val="1000"/>
                        <a:buChar char="●"/>
                      </a:pPr>
                      <a:r>
                        <a:rPr lang="en-US" sz="1300" dirty="0"/>
                        <a:t>Email campaigns and referral programs</a:t>
                      </a:r>
                    </a:p>
                    <a:p>
                      <a:pPr marL="457200" lvl="0" indent="-292100" algn="l" rtl="0">
                        <a:spcBef>
                          <a:spcPts val="0"/>
                        </a:spcBef>
                        <a:spcAft>
                          <a:spcPts val="0"/>
                        </a:spcAft>
                        <a:buSzPts val="1000"/>
                        <a:buChar char="●"/>
                      </a:pPr>
                      <a:r>
                        <a:rPr lang="en-US" sz="1300" dirty="0"/>
                        <a:t>Partnerships and sponsorships</a:t>
                      </a:r>
                    </a:p>
                    <a:p>
                      <a:pPr marL="457200" lvl="0" indent="-292100" algn="l" rtl="0">
                        <a:spcBef>
                          <a:spcPts val="0"/>
                        </a:spcBef>
                        <a:spcAft>
                          <a:spcPts val="0"/>
                        </a:spcAft>
                        <a:buSzPts val="1000"/>
                        <a:buChar char="●"/>
                      </a:pPr>
                      <a:r>
                        <a:rPr lang="en-US" sz="1300" dirty="0"/>
                        <a:t>Resource center and tutorials</a:t>
                      </a:r>
                    </a:p>
                  </a:txBody>
                  <a:tcPr marL="121900" marR="121900" marT="121900" marB="121900">
                    <a:lnR w="9525" cap="flat" cmpd="sng" algn="ctr">
                      <a:solidFill>
                        <a:srgbClr val="B7B7B7"/>
                      </a:solidFill>
                      <a:prstDash val="solid"/>
                      <a:round/>
                      <a:headEnd type="none" w="sm" len="sm"/>
                      <a:tailEnd type="none" w="sm" len="sm"/>
                    </a:lnR>
                    <a:lnT w="9525" cap="flat" cmpd="sng" algn="ctr">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vMerge="1">
                  <a:txBody>
                    <a:bodyPr/>
                    <a:lstStyle/>
                    <a:p>
                      <a:pPr marL="457200" lvl="0" indent="-292100" algn="l" rtl="0">
                        <a:spcBef>
                          <a:spcPts val="0"/>
                        </a:spcBef>
                        <a:spcAft>
                          <a:spcPts val="0"/>
                        </a:spcAft>
                        <a:buSzPts val="1000"/>
                        <a:buChar char="●"/>
                      </a:pPr>
                      <a:endParaRPr lang="en-US" sz="1300" dirty="0"/>
                    </a:p>
                  </a:txBody>
                  <a:tcPr marL="121900" marR="121900" marT="121900" marB="121900">
                    <a:lnL w="9525" cap="flat" cmpd="sng" algn="ctr">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lgn="ctr">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4226937127"/>
                  </a:ext>
                </a:extLst>
              </a:tr>
              <a:tr h="1264960">
                <a:tc gridSpan="3">
                  <a:txBody>
                    <a:bodyPr/>
                    <a:lstStyle/>
                    <a:p>
                      <a:pPr marL="0" lvl="0" indent="0" algn="l" rtl="0">
                        <a:spcBef>
                          <a:spcPts val="0"/>
                        </a:spcBef>
                        <a:spcAft>
                          <a:spcPts val="0"/>
                        </a:spcAft>
                        <a:buNone/>
                      </a:pPr>
                      <a:r>
                        <a:rPr lang="en" sz="1600" u="sng" dirty="0">
                          <a:solidFill>
                            <a:schemeClr val="dk1"/>
                          </a:solidFill>
                        </a:rPr>
                        <a:t>Cost Structure</a:t>
                      </a:r>
                      <a:endParaRPr sz="1600" u="sng" dirty="0">
                        <a:solidFill>
                          <a:schemeClr val="dk1"/>
                        </a:solidFill>
                      </a:endParaRPr>
                    </a:p>
                    <a:p>
                      <a:pPr marL="457200" lvl="0" indent="-292100" algn="l" rtl="0">
                        <a:spcBef>
                          <a:spcPts val="0"/>
                        </a:spcBef>
                        <a:spcAft>
                          <a:spcPts val="0"/>
                        </a:spcAft>
                        <a:buSzPts val="1000"/>
                        <a:buChar char="●"/>
                      </a:pPr>
                      <a:r>
                        <a:rPr lang="en-US" sz="1300" dirty="0"/>
                        <a:t>Development costs</a:t>
                      </a:r>
                    </a:p>
                    <a:p>
                      <a:pPr marL="457200" lvl="0" indent="-292100" algn="l" rtl="0">
                        <a:spcBef>
                          <a:spcPts val="0"/>
                        </a:spcBef>
                        <a:spcAft>
                          <a:spcPts val="0"/>
                        </a:spcAft>
                        <a:buSzPts val="1000"/>
                        <a:buChar char="●"/>
                      </a:pPr>
                      <a:r>
                        <a:rPr lang="en-US" sz="1300" dirty="0"/>
                        <a:t>Marketing costs</a:t>
                      </a:r>
                    </a:p>
                    <a:p>
                      <a:pPr marL="457200" lvl="0" indent="-292100" algn="l" rtl="0">
                        <a:spcBef>
                          <a:spcPts val="0"/>
                        </a:spcBef>
                        <a:spcAft>
                          <a:spcPts val="0"/>
                        </a:spcAft>
                        <a:buSzPts val="1000"/>
                        <a:buChar char="●"/>
                      </a:pPr>
                      <a:r>
                        <a:rPr lang="en-US" sz="1300" dirty="0"/>
                        <a:t>Manufacturing costs</a:t>
                      </a:r>
                    </a:p>
                    <a:p>
                      <a:pPr marL="457200" lvl="0" indent="-292100" algn="l" rtl="0">
                        <a:spcBef>
                          <a:spcPts val="0"/>
                        </a:spcBef>
                        <a:spcAft>
                          <a:spcPts val="0"/>
                        </a:spcAft>
                        <a:buSzPts val="1000"/>
                        <a:buChar char="●"/>
                      </a:pPr>
                      <a:r>
                        <a:rPr lang="en-US" sz="1300" dirty="0"/>
                        <a:t>Distribution and Logistics costs</a:t>
                      </a:r>
                    </a:p>
                    <a:p>
                      <a:pPr marL="457200" lvl="0" indent="-292100" algn="l" rtl="0">
                        <a:spcBef>
                          <a:spcPts val="0"/>
                        </a:spcBef>
                        <a:spcAft>
                          <a:spcPts val="0"/>
                        </a:spcAft>
                        <a:buSzPts val="1000"/>
                        <a:buChar char="●"/>
                      </a:pPr>
                      <a:r>
                        <a:rPr lang="en-US" sz="1300" dirty="0"/>
                        <a:t>Customer Support costs</a:t>
                      </a:r>
                    </a:p>
                    <a:p>
                      <a:pPr marL="457200" lvl="0" indent="-292100" algn="l" rtl="0">
                        <a:spcBef>
                          <a:spcPts val="0"/>
                        </a:spcBef>
                        <a:spcAft>
                          <a:spcPts val="0"/>
                        </a:spcAft>
                        <a:buSzPts val="1000"/>
                        <a:buChar char="●"/>
                      </a:pPr>
                      <a:r>
                        <a:rPr lang="en-US" sz="1300" dirty="0"/>
                        <a:t>Intellectual property costs</a:t>
                      </a:r>
                    </a:p>
                    <a:p>
                      <a:pPr marL="457200" lvl="0" indent="-292100" algn="l" rtl="0">
                        <a:spcBef>
                          <a:spcPts val="0"/>
                        </a:spcBef>
                        <a:spcAft>
                          <a:spcPts val="0"/>
                        </a:spcAft>
                        <a:buSzPts val="1000"/>
                        <a:buChar char="●"/>
                      </a:pPr>
                      <a:r>
                        <a:rPr lang="en-US" sz="1300" b="1" dirty="0"/>
                        <a:t>Material Costs</a:t>
                      </a:r>
                    </a:p>
                    <a:p>
                      <a:pPr marL="457200" lvl="0" indent="-292100" algn="l" rtl="0">
                        <a:spcBef>
                          <a:spcPts val="0"/>
                        </a:spcBef>
                        <a:spcAft>
                          <a:spcPts val="0"/>
                        </a:spcAft>
                        <a:buSzPts val="1000"/>
                        <a:buChar char="●"/>
                      </a:pPr>
                      <a:endParaRPr lang="en-US" sz="1300" dirty="0"/>
                    </a:p>
                  </a:txBody>
                  <a:tcPr marL="121900" marR="121900" marT="121900" marB="121900">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hMerge="1">
                  <a:txBody>
                    <a:bodyPr/>
                    <a:lstStyle/>
                    <a:p>
                      <a:endParaRPr lang="en-US"/>
                    </a:p>
                  </a:txBody>
                  <a:tcPr/>
                </a:tc>
                <a:tc hMerge="1">
                  <a:txBody>
                    <a:bodyPr/>
                    <a:lstStyle/>
                    <a:p>
                      <a:endParaRPr lang="en-US"/>
                    </a:p>
                  </a:txBody>
                  <a:tcPr/>
                </a:tc>
                <a:tc gridSpan="3">
                  <a:txBody>
                    <a:bodyPr/>
                    <a:lstStyle/>
                    <a:p>
                      <a:pPr marL="0" lvl="0" indent="0" algn="l" rtl="0">
                        <a:spcBef>
                          <a:spcPts val="0"/>
                        </a:spcBef>
                        <a:spcAft>
                          <a:spcPts val="0"/>
                        </a:spcAft>
                        <a:buNone/>
                      </a:pPr>
                      <a:r>
                        <a:rPr lang="en" sz="1600" u="sng" dirty="0">
                          <a:solidFill>
                            <a:schemeClr val="dk1"/>
                          </a:solidFill>
                        </a:rPr>
                        <a:t>Revenue Streams</a:t>
                      </a:r>
                      <a:endParaRPr sz="1600" u="sng" dirty="0">
                        <a:solidFill>
                          <a:schemeClr val="dk1"/>
                        </a:solidFill>
                      </a:endParaRPr>
                    </a:p>
                    <a:p>
                      <a:pPr marL="457200" lvl="0" indent="-292100" algn="l" rtl="0">
                        <a:spcBef>
                          <a:spcPts val="0"/>
                        </a:spcBef>
                        <a:spcAft>
                          <a:spcPts val="0"/>
                        </a:spcAft>
                        <a:buClr>
                          <a:schemeClr val="dk1"/>
                        </a:buClr>
                        <a:buSzPts val="1000"/>
                        <a:buChar char="●"/>
                      </a:pPr>
                      <a:r>
                        <a:rPr lang="en-US" sz="1300" dirty="0">
                          <a:solidFill>
                            <a:schemeClr val="dk1"/>
                          </a:solidFill>
                        </a:rPr>
                        <a:t>Profit from sharpener sales</a:t>
                      </a:r>
                    </a:p>
                    <a:p>
                      <a:pPr marL="457200" lvl="0" indent="-292100" algn="l" rtl="0">
                        <a:spcBef>
                          <a:spcPts val="0"/>
                        </a:spcBef>
                        <a:spcAft>
                          <a:spcPts val="0"/>
                        </a:spcAft>
                        <a:buClr>
                          <a:schemeClr val="dk1"/>
                        </a:buClr>
                        <a:buSzPts val="1000"/>
                        <a:buChar char="●"/>
                      </a:pPr>
                      <a:r>
                        <a:rPr lang="en-US" sz="1300" dirty="0">
                          <a:solidFill>
                            <a:schemeClr val="dk1"/>
                          </a:solidFill>
                        </a:rPr>
                        <a:t>Profit from grinding wheel sales</a:t>
                      </a:r>
                    </a:p>
                    <a:p>
                      <a:pPr marL="457200" lvl="0" indent="-292100" algn="l" rtl="0">
                        <a:spcBef>
                          <a:spcPts val="0"/>
                        </a:spcBef>
                        <a:spcAft>
                          <a:spcPts val="0"/>
                        </a:spcAft>
                        <a:buClr>
                          <a:schemeClr val="dk1"/>
                        </a:buClr>
                        <a:buSzPts val="1000"/>
                        <a:buChar char="●"/>
                      </a:pPr>
                      <a:r>
                        <a:rPr lang="en-US" sz="1300" dirty="0">
                          <a:solidFill>
                            <a:schemeClr val="dk1"/>
                          </a:solidFill>
                        </a:rPr>
                        <a:t>Profit from subscription boxes/maintenance kits</a:t>
                      </a:r>
                    </a:p>
                    <a:p>
                      <a:pPr marL="457200" lvl="0" indent="-292100" algn="l" rtl="0">
                        <a:spcBef>
                          <a:spcPts val="0"/>
                        </a:spcBef>
                        <a:spcAft>
                          <a:spcPts val="0"/>
                        </a:spcAft>
                        <a:buClr>
                          <a:schemeClr val="dk1"/>
                        </a:buClr>
                        <a:buSzPts val="1000"/>
                        <a:buChar char="●"/>
                      </a:pPr>
                      <a:r>
                        <a:rPr lang="en-US" sz="1300" dirty="0">
                          <a:solidFill>
                            <a:schemeClr val="dk1"/>
                          </a:solidFill>
                        </a:rPr>
                        <a:t>Profit from accessory sales</a:t>
                      </a:r>
                    </a:p>
                    <a:p>
                      <a:pPr marL="457200" lvl="0" indent="-292100" algn="l" rtl="0">
                        <a:spcBef>
                          <a:spcPts val="0"/>
                        </a:spcBef>
                        <a:spcAft>
                          <a:spcPts val="0"/>
                        </a:spcAft>
                        <a:buClr>
                          <a:schemeClr val="dk1"/>
                        </a:buClr>
                        <a:buSzPts val="1000"/>
                        <a:buChar char="●"/>
                      </a:pPr>
                      <a:r>
                        <a:rPr lang="en-US" sz="1300" b="1" dirty="0">
                          <a:solidFill>
                            <a:schemeClr val="dk1"/>
                          </a:solidFill>
                        </a:rPr>
                        <a:t>Corporate Partnerships</a:t>
                      </a:r>
                      <a:endParaRPr sz="1300" b="1" dirty="0">
                        <a:solidFill>
                          <a:schemeClr val="dk1"/>
                        </a:solidFill>
                      </a:endParaRPr>
                    </a:p>
                  </a:txBody>
                  <a:tcPr marL="121900" marR="121900" marT="121900" marB="121900">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bl>
          </a:graphicData>
        </a:graphic>
      </p:graphicFrame>
      <p:sp>
        <p:nvSpPr>
          <p:cNvPr id="173" name="Google Shape;173;p23"/>
          <p:cNvSpPr txBox="1"/>
          <p:nvPr/>
        </p:nvSpPr>
        <p:spPr>
          <a:xfrm>
            <a:off x="9593179" y="0"/>
            <a:ext cx="2598821" cy="763600"/>
          </a:xfrm>
          <a:prstGeom prst="rect">
            <a:avLst/>
          </a:prstGeom>
          <a:noFill/>
          <a:ln>
            <a:noFill/>
          </a:ln>
        </p:spPr>
        <p:txBody>
          <a:bodyPr spcFirstLastPara="1" wrap="square" lIns="121900" tIns="121900" rIns="121900" bIns="121900" anchor="t" anchorCtr="0">
            <a:noAutofit/>
          </a:bodyPr>
          <a:lstStyle/>
          <a:p>
            <a:r>
              <a:rPr lang="en" sz="3733">
                <a:solidFill>
                  <a:srgbClr val="6D9EEB"/>
                </a:solidFill>
              </a:rPr>
              <a:t>SkateSharp</a:t>
            </a:r>
            <a:endParaRPr sz="2400" dirty="0"/>
          </a:p>
        </p:txBody>
      </p:sp>
    </p:spTree>
    <p:extLst>
      <p:ext uri="{BB962C8B-B14F-4D97-AF65-F5344CB8AC3E}">
        <p14:creationId xmlns:p14="http://schemas.microsoft.com/office/powerpoint/2010/main" val="1517119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357F6E-23C6-B82E-0DBF-11E0FA7B8412}"/>
              </a:ext>
            </a:extLst>
          </p:cNvPr>
          <p:cNvSpPr>
            <a:spLocks noGrp="1"/>
          </p:cNvSpPr>
          <p:nvPr>
            <p:ph idx="1"/>
          </p:nvPr>
        </p:nvSpPr>
        <p:spPr>
          <a:xfrm>
            <a:off x="240631" y="232611"/>
            <a:ext cx="11790947" cy="6448926"/>
          </a:xfrm>
        </p:spPr>
        <p:txBody>
          <a:bodyPr>
            <a:normAutofit fontScale="92500" lnSpcReduction="20000"/>
          </a:bodyPr>
          <a:lstStyle/>
          <a:p>
            <a:pPr>
              <a:lnSpc>
                <a:spcPct val="110000"/>
              </a:lnSpc>
            </a:pPr>
            <a:r>
              <a:rPr lang="en-US" sz="1300" b="1" u="sng" dirty="0"/>
              <a:t>Eco-Friendly Packaging</a:t>
            </a:r>
          </a:p>
          <a:p>
            <a:pPr marL="0" indent="0" algn="just">
              <a:lnSpc>
                <a:spcPct val="110000"/>
              </a:lnSpc>
              <a:buNone/>
            </a:pPr>
            <a:r>
              <a:rPr lang="en-US" sz="1300" dirty="0"/>
              <a:t>There is growing consumer demand for environmentally friendly products. </a:t>
            </a:r>
            <a:r>
              <a:rPr lang="en-US" sz="1300" dirty="0" err="1"/>
              <a:t>SkateSharp</a:t>
            </a:r>
            <a:r>
              <a:rPr lang="en-US" sz="1300" dirty="0"/>
              <a:t> aims to align with this trend by using recyclable or biodegradable materials for packaging. This approach appeals to eco-conscious customers and supports global sustainability efforts. Eco-friendly packaging not only reduces environmental impact but also enhances the product’s marketability. Consumers are more likely to choose products from brands that demonstrate social responsibility. Including this feature in </a:t>
            </a:r>
            <a:r>
              <a:rPr lang="en-US" sz="1300" dirty="0" err="1"/>
              <a:t>SkateSharp’s</a:t>
            </a:r>
            <a:r>
              <a:rPr lang="en-US" sz="1300" dirty="0"/>
              <a:t> presentation showcases the company’s commitment to environmental stewardship, which can attract a broader audience.</a:t>
            </a:r>
          </a:p>
          <a:p>
            <a:pPr>
              <a:lnSpc>
                <a:spcPct val="110000"/>
              </a:lnSpc>
            </a:pPr>
            <a:r>
              <a:rPr lang="en-US" sz="1300" b="1" u="sng" dirty="0"/>
              <a:t>Prototype Testing with Professional Athletes</a:t>
            </a:r>
          </a:p>
          <a:p>
            <a:pPr marL="0" indent="0" algn="just">
              <a:lnSpc>
                <a:spcPct val="110000"/>
              </a:lnSpc>
              <a:buNone/>
            </a:pPr>
            <a:r>
              <a:rPr lang="en-US" sz="1300" dirty="0"/>
              <a:t>Feedback from real users, especially athletes, is invaluable for improving the product. Professional athletes can test SkateSharp in actual scenarios, such as during games or training sessions, and provide insights into its performance, usability, and durability. Testing ensures that SkateSharp meets the high standards of its target audience and ensure that it is useful even at the highest levels of competition. The feedback helps refine features like sharpening precision, durability, and battery life. Highlighting this activity shows potential investors and customers that the product is built with user input, ensuring practicality and reliability.</a:t>
            </a:r>
          </a:p>
          <a:p>
            <a:pPr>
              <a:lnSpc>
                <a:spcPct val="110000"/>
              </a:lnSpc>
            </a:pPr>
            <a:r>
              <a:rPr lang="en-US" sz="1300" b="1" u="sng" dirty="0"/>
              <a:t>Time-Saving Tool</a:t>
            </a:r>
          </a:p>
          <a:p>
            <a:pPr marL="0" indent="0" algn="just">
              <a:lnSpc>
                <a:spcPct val="110000"/>
              </a:lnSpc>
              <a:buNone/>
            </a:pPr>
            <a:r>
              <a:rPr lang="en-US" sz="1300" dirty="0"/>
              <a:t>Skaters often face time constraints during practice, games, or routines. Existing sharpening methods, such as professional services or sharpening stones, are either too time-consuming or ineffective. </a:t>
            </a:r>
            <a:r>
              <a:rPr lang="en-US" sz="1300" dirty="0" err="1"/>
              <a:t>SkateSharp’s</a:t>
            </a:r>
            <a:r>
              <a:rPr lang="en-US" sz="1300" dirty="0"/>
              <a:t> ability to sharpen skates quickly solves this problem, addressing a major pain point for athletes. This feature aligns with the needs of competitive and recreational skaters who value convenience and efficiency. Highlighting this in the presentation emphasizes how </a:t>
            </a:r>
            <a:r>
              <a:rPr lang="en-US" sz="1300" dirty="0" err="1"/>
              <a:t>SkateSharp</a:t>
            </a:r>
            <a:r>
              <a:rPr lang="en-US" sz="1300" dirty="0"/>
              <a:t> fits into their busy schedules, making it a must-have tool. It differentiates the product from traditional methods, appealing to time-conscious customers.</a:t>
            </a:r>
          </a:p>
          <a:p>
            <a:pPr>
              <a:lnSpc>
                <a:spcPct val="110000"/>
              </a:lnSpc>
            </a:pPr>
            <a:r>
              <a:rPr lang="en-US" sz="1300" b="1" u="sng" dirty="0"/>
              <a:t>Corporate Partnerships</a:t>
            </a:r>
          </a:p>
          <a:p>
            <a:pPr marL="0" indent="0" algn="just">
              <a:lnSpc>
                <a:spcPct val="110000"/>
              </a:lnSpc>
              <a:buNone/>
            </a:pPr>
            <a:r>
              <a:rPr lang="en-US" sz="1300" dirty="0"/>
              <a:t>Partnering with professional skating organizations, sports equipment brands, and professional teams brings credibility to SkateSharp. These partnerships can also serve as a platform to reach a wider audience, as trusted organizations can promote the product to their networks. By aligning with respected entities, </a:t>
            </a:r>
            <a:r>
              <a:rPr lang="en-US" sz="1300" dirty="0" err="1"/>
              <a:t>SkateSharp</a:t>
            </a:r>
            <a:r>
              <a:rPr lang="en-US" sz="1300" dirty="0"/>
              <a:t> builds trust and gains access to professional athletes and coaches who can endorse the product. Corporate partnerships are essential because they not only strengthen the brand’s reputation but also open doors to marketing opportunities, such as featuring </a:t>
            </a:r>
            <a:r>
              <a:rPr lang="en-US" sz="1300" dirty="0" err="1"/>
              <a:t>SkateSharp</a:t>
            </a:r>
            <a:r>
              <a:rPr lang="en-US" sz="1300" dirty="0"/>
              <a:t> in skating competitions or official endorsements. This increases visibility, which is crucial for a new product entering a niche market.</a:t>
            </a:r>
          </a:p>
          <a:p>
            <a:pPr>
              <a:lnSpc>
                <a:spcPct val="100000"/>
              </a:lnSpc>
            </a:pPr>
            <a:r>
              <a:rPr lang="en-US" sz="1300" b="1" u="sng" dirty="0"/>
              <a:t>Material Costs</a:t>
            </a:r>
          </a:p>
          <a:p>
            <a:pPr marL="0" indent="0" algn="just">
              <a:lnSpc>
                <a:spcPct val="100000"/>
              </a:lnSpc>
              <a:buNone/>
            </a:pPr>
            <a:r>
              <a:rPr lang="en-US" sz="1300" dirty="0"/>
              <a:t>Durability and portability are key selling points for </a:t>
            </a:r>
            <a:r>
              <a:rPr lang="en-US" sz="1300" dirty="0" err="1"/>
              <a:t>SkateSharp</a:t>
            </a:r>
            <a:r>
              <a:rPr lang="en-US" sz="1300" dirty="0"/>
              <a:t>. Investing in high-quality materials ensures the device is lightweight yet robust enough to withstand rough usage. This focus on material quality directly influences production costs. Including material costs in the presentation shows transparency and demonstrates that the team prioritizes quality. It also reflects the careful balance between affordability and durability. This insight helps stakeholders understand why certain materials were chosen and how they align with the product’s value proposition.</a:t>
            </a:r>
          </a:p>
          <a:p>
            <a:pPr algn="just">
              <a:lnSpc>
                <a:spcPct val="100000"/>
              </a:lnSpc>
            </a:pPr>
            <a:r>
              <a:rPr lang="en-US" sz="1300" b="1" u="sng" dirty="0"/>
              <a:t>Exclusion of Figure Skaters/Figure Skates</a:t>
            </a:r>
          </a:p>
          <a:p>
            <a:pPr marL="0" indent="0" algn="just">
              <a:lnSpc>
                <a:spcPct val="100000"/>
              </a:lnSpc>
              <a:buNone/>
            </a:pPr>
            <a:r>
              <a:rPr lang="en-US" sz="1300" dirty="0"/>
              <a:t>Through testing and user interviews, the SkateSharp team found that the skate-sharpening needs of figure skaters differ greatly from those of hockey players and require many more considerations. While there still may be a need for a device like SkateSharp in figure skating the current understanding of needs in figure skating is not conducive for creating a successful device. For this reason, the SkateSharp team will focus efforts for the first-generation product on meeting the needs of hockey players and designing for hockey skates.</a:t>
            </a:r>
          </a:p>
          <a:p>
            <a:pPr algn="just">
              <a:lnSpc>
                <a:spcPct val="100000"/>
              </a:lnSpc>
            </a:pPr>
            <a:endParaRPr lang="en-US" sz="1300" b="1" u="sng" dirty="0"/>
          </a:p>
          <a:p>
            <a:endParaRPr lang="en-US" sz="1200" dirty="0"/>
          </a:p>
          <a:p>
            <a:endParaRPr lang="en-US" sz="1000" dirty="0"/>
          </a:p>
          <a:p>
            <a:endParaRPr lang="en-US" sz="1200" b="1" dirty="0"/>
          </a:p>
          <a:p>
            <a:endParaRPr lang="en-US" sz="1200" dirty="0"/>
          </a:p>
        </p:txBody>
      </p:sp>
    </p:spTree>
    <p:extLst>
      <p:ext uri="{BB962C8B-B14F-4D97-AF65-F5344CB8AC3E}">
        <p14:creationId xmlns:p14="http://schemas.microsoft.com/office/powerpoint/2010/main" val="12789427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a8eec281-aaa3-4dae-ac9b-9a398b9215e7}" enabled="0" method="" siteId="{a8eec281-aaa3-4dae-ac9b-9a398b9215e7}" removed="1"/>
</clbl:labelList>
</file>

<file path=docProps/app.xml><?xml version="1.0" encoding="utf-8"?>
<Properties xmlns="http://schemas.openxmlformats.org/officeDocument/2006/extended-properties" xmlns:vt="http://schemas.openxmlformats.org/officeDocument/2006/docPropsVTypes">
  <TotalTime>196</TotalTime>
  <Words>853</Words>
  <Application>Microsoft Office PowerPoint</Application>
  <PresentationFormat>Widescreen</PresentationFormat>
  <Paragraphs>82</Paragraphs>
  <Slides>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Anahis Kechejian</dc:creator>
  <cp:lastModifiedBy>Ryan Potechin</cp:lastModifiedBy>
  <cp:revision>6</cp:revision>
  <dcterms:created xsi:type="dcterms:W3CDTF">2023-09-20T03:05:37Z</dcterms:created>
  <dcterms:modified xsi:type="dcterms:W3CDTF">2024-12-02T03:08:38Z</dcterms:modified>
</cp:coreProperties>
</file>